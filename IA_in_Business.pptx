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79" d="100"/>
          <a:sy n="79" d="100"/>
        </p:scale>
        <p:origin x="3462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DD672-1A7E-49F7-9F97-C0B51F311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D2B4A9-8D89-4D7D-862F-9766B175D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02E2D7-E03B-42E9-8855-8F6C080C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B489E5-6E88-4EDB-AFD4-310FF058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D00594-9E3D-4A36-814C-8773D2E4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86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8EF45-860C-4D04-AD55-7760A9A6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6E72DE-0EAF-4A6A-95F4-AEBFBE09C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A2D9CD-BEAC-417C-A8B1-A4BFC0CC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085056-4A26-453B-915D-241ECBF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CB4AF-763A-4ACE-B70D-A2448125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98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FB48F-6DA1-4833-A660-9FEBA2D6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21D99F-6039-41CC-AABF-D3344C3A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5C82F-E214-49E9-9CC3-476A5DDF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7B6DCE-9DE4-4DB3-80FA-2C3CD1DD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F10A8E-C5F7-4F1F-8FC2-195E4C7D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65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AFA21-4441-49D4-8AF4-23B6A1F2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4CD220-F43E-4F8D-9472-53085C0A2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A8F2EC-9F2F-48E3-B9EF-C83809D68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43840A-C2DF-4A6F-865E-9318046C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B507D6-87BE-4D58-9E39-CAEA9082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A43144-A75F-436C-809C-98B639F8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65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8F5B64-2837-493B-9139-DB03015D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C4876F-0DA9-445F-B8C7-DB9570B1A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0DE5AB-84AA-420C-AE2E-249986093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D469110-68B8-4433-97D5-9E13371A6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DAD8BE-79DE-45B2-94BB-425ACCE6C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FB93A3-40D4-4E29-85FC-341BAB3C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F72A1F4-50E1-449D-B5B5-15B7CCCD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C219AD-D008-4B35-9EEA-89D9E9C0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95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55D255-6BEC-4F58-A441-F9F1B949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474308-F3DB-41B8-A469-C200C21D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07580E-2B4B-4F69-A7BE-637C3921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C71719-5707-46DF-835F-529BD0E8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33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B5E361-1178-457B-957C-C4904E98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27DBDB-F996-4BFA-92CC-B92B1BA3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DFE631-60DE-4AD2-B87A-C7AA0C25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31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79F00-CB42-481A-AC78-4495526D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612B1F-EAC7-4E14-8985-EC942B67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2D53F8-031E-44AB-ADEB-691BC145E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7ED5A6-24BC-4A0E-9E6D-99D4CF81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08DAB0-475D-4865-AB5A-1497EF43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73995-097F-45E2-A990-97E88B57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21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74996-6E25-428D-B036-A498EA5B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5BCDFE-B599-4381-B1A0-4AC3969C8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F57B8-7846-4D68-ACFC-E64E5100F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319D9D-931C-486B-9096-EF6DA16C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72FEA9-F4ED-4EBE-AA4E-68F4246A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D7CC9F-2026-4D50-A775-7D216F3F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96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91128-843A-4E2B-863A-6968A94C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E5F698-ABCB-4497-8EF0-DB91790C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AF2EC3-A4E7-4998-B674-B8E05190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52D95D-E574-4656-BB40-ECE4F513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1A8312-BF66-4D08-9F5A-A06899F8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948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D3EAD3-A4B6-4062-9742-AA219F772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7312C3-5345-4C31-ADFC-59B7AAB6F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EDA823-10B7-4355-AABA-64D7BAFF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B350F3-D592-4693-AF8C-1ABF34DE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D6F59B-4106-468C-A55C-74953B2B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8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528B5FE-BABD-452E-81FE-59D86725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274FE6-1B6A-43AD-A411-238D34E74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87D825-0444-4CFF-A1EF-FF7AABCA0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73269-B842-4E44-8FE6-166F8EC856EE}" type="datetimeFigureOut">
              <a:rPr lang="fr-FR" smtClean="0"/>
              <a:t>15/11/2025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7347E4-92F5-4B8C-95D8-9CD7D2E4B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972A29-936C-4F37-8F90-490B42151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471-6390-452D-B0CC-3FC0750200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0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1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3.png"/><Relationship Id="rId5" Type="http://schemas.openxmlformats.org/officeDocument/2006/relationships/image" Target="../media/image22.png"/><Relationship Id="rId10" Type="http://schemas.openxmlformats.org/officeDocument/2006/relationships/image" Target="../media/image12.png"/><Relationship Id="rId4" Type="http://schemas.openxmlformats.org/officeDocument/2006/relationships/image" Target="../media/image2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10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5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0.png"/><Relationship Id="rId3" Type="http://schemas.openxmlformats.org/officeDocument/2006/relationships/image" Target="../media/image27.png"/><Relationship Id="rId7" Type="http://schemas.openxmlformats.org/officeDocument/2006/relationships/image" Target="../media/image23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1.png"/><Relationship Id="rId5" Type="http://schemas.openxmlformats.org/officeDocument/2006/relationships/image" Target="../media/image26.png"/><Relationship Id="rId10" Type="http://schemas.openxmlformats.org/officeDocument/2006/relationships/image" Target="../media/image22.png"/><Relationship Id="rId4" Type="http://schemas.openxmlformats.org/officeDocument/2006/relationships/image" Target="../media/image28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0.png"/><Relationship Id="rId3" Type="http://schemas.openxmlformats.org/officeDocument/2006/relationships/image" Target="../media/image29.png"/><Relationship Id="rId7" Type="http://schemas.openxmlformats.org/officeDocument/2006/relationships/image" Target="../media/image2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1.png"/><Relationship Id="rId5" Type="http://schemas.openxmlformats.org/officeDocument/2006/relationships/image" Target="../media/image28.png"/><Relationship Id="rId10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Relationship Id="rId1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0.png"/><Relationship Id="rId3" Type="http://schemas.openxmlformats.org/officeDocument/2006/relationships/image" Target="../media/image29.png"/><Relationship Id="rId7" Type="http://schemas.openxmlformats.org/officeDocument/2006/relationships/image" Target="../media/image24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1.png"/><Relationship Id="rId5" Type="http://schemas.openxmlformats.org/officeDocument/2006/relationships/image" Target="../media/image28.png"/><Relationship Id="rId10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3761928" y="4952489"/>
            <a:ext cx="8430071" cy="1905509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-1" y="5603001"/>
            <a:ext cx="3185059" cy="1254996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413853" y="2644169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35B00B-D5AA-4A35-8AF8-D1A798FA7868}"/>
              </a:ext>
            </a:extLst>
          </p:cNvPr>
          <p:cNvSpPr txBox="1"/>
          <p:nvPr/>
        </p:nvSpPr>
        <p:spPr>
          <a:xfrm>
            <a:off x="8679533" y="5842332"/>
            <a:ext cx="2462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Boudjaoui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Badis </a:t>
            </a:r>
          </a:p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Hamadouche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Axcel</a:t>
            </a:r>
            <a:endParaRPr lang="fr-FR" dirty="0">
              <a:solidFill>
                <a:schemeClr val="bg1"/>
              </a:solidFill>
              <a:latin typeface="Poppins Medium" panose="00000600000000000000" pitchFamily="2" charset="0"/>
              <a:ea typeface="Roboto" panose="02000000000000000000" pitchFamily="2" charset="0"/>
              <a:cs typeface="Poppins Medium" panose="00000600000000000000" pitchFamily="2" charset="0"/>
            </a:endParaRPr>
          </a:p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Naceri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Walid</a:t>
            </a:r>
          </a:p>
        </p:txBody>
      </p:sp>
      <p:sp>
        <p:nvSpPr>
          <p:cNvPr id="15" name="GROUP">
            <a:extLst>
              <a:ext uri="{FF2B5EF4-FFF2-40B4-BE49-F238E27FC236}">
                <a16:creationId xmlns:a16="http://schemas.microsoft.com/office/drawing/2014/main" id="{4A90B2C6-B87D-4E5E-8FF3-12966B1803E4}"/>
              </a:ext>
            </a:extLst>
          </p:cNvPr>
          <p:cNvSpPr txBox="1"/>
          <p:nvPr/>
        </p:nvSpPr>
        <p:spPr>
          <a:xfrm>
            <a:off x="140600" y="639633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2CP – Group 8</a:t>
            </a:r>
          </a:p>
        </p:txBody>
      </p:sp>
    </p:spTree>
    <p:extLst>
      <p:ext uri="{BB962C8B-B14F-4D97-AF65-F5344CB8AC3E}">
        <p14:creationId xmlns:p14="http://schemas.microsoft.com/office/powerpoint/2010/main" val="107490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B00F9E7-274E-4957-BC00-1E304DF4D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3124" y="6857997"/>
            <a:ext cx="973124" cy="973124"/>
          </a:xfrm>
          <a:prstGeom prst="rect">
            <a:avLst/>
          </a:prstGeom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264209" y="-2"/>
            <a:ext cx="6927788" cy="6858001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-4"/>
            <a:ext cx="6095995" cy="685800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735B00B-D5AA-4A35-8AF8-D1A798FA7868}"/>
              </a:ext>
            </a:extLst>
          </p:cNvPr>
          <p:cNvSpPr txBox="1"/>
          <p:nvPr/>
        </p:nvSpPr>
        <p:spPr>
          <a:xfrm>
            <a:off x="8974105" y="6934703"/>
            <a:ext cx="3430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Boudjaoui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Badis </a:t>
            </a:r>
          </a:p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Adjeroud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Mohamed Mounib</a:t>
            </a:r>
          </a:p>
          <a:p>
            <a:r>
              <a:rPr lang="fr-FR" dirty="0" err="1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Sahali</a:t>
            </a:r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 Maria</a:t>
            </a:r>
          </a:p>
        </p:txBody>
      </p:sp>
      <p:sp>
        <p:nvSpPr>
          <p:cNvPr id="15" name="GROUP">
            <a:extLst>
              <a:ext uri="{FF2B5EF4-FFF2-40B4-BE49-F238E27FC236}">
                <a16:creationId xmlns:a16="http://schemas.microsoft.com/office/drawing/2014/main" id="{4A90B2C6-B87D-4E5E-8FF3-12966B1803E4}"/>
              </a:ext>
            </a:extLst>
          </p:cNvPr>
          <p:cNvSpPr txBox="1"/>
          <p:nvPr/>
        </p:nvSpPr>
        <p:spPr>
          <a:xfrm>
            <a:off x="243150" y="721170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Poppins Medium" panose="00000600000000000000" pitchFamily="2" charset="0"/>
                <a:ea typeface="Roboto" panose="02000000000000000000" pitchFamily="2" charset="0"/>
                <a:cs typeface="Poppins Medium" panose="00000600000000000000" pitchFamily="2" charset="0"/>
              </a:rPr>
              <a:t>2CP – Group 8</a:t>
            </a: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4261535" y="1804721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43150" y="4362620"/>
            <a:ext cx="3668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8414833" y="4362620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2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06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4" name="Picture 2" descr="Icône Google Gemini aux formats SVG et PNG">
            <a:extLst>
              <a:ext uri="{FF2B5EF4-FFF2-40B4-BE49-F238E27FC236}">
                <a16:creationId xmlns:a16="http://schemas.microsoft.com/office/drawing/2014/main" id="{8F0ABC7C-4185-46CD-9013-5BC500A65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30635">
            <a:off x="-3354610" y="4156665"/>
            <a:ext cx="433087" cy="43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Icône de copilote aux formats SVG et PNG">
            <a:extLst>
              <a:ext uri="{FF2B5EF4-FFF2-40B4-BE49-F238E27FC236}">
                <a16:creationId xmlns:a16="http://schemas.microsoft.com/office/drawing/2014/main" id="{1781247A-83FB-442F-A335-A904304B8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39884">
            <a:off x="-2051357" y="3804874"/>
            <a:ext cx="413425" cy="41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cône Grok AI aux formats SVG et PNG">
            <a:extLst>
              <a:ext uri="{FF2B5EF4-FFF2-40B4-BE49-F238E27FC236}">
                <a16:creationId xmlns:a16="http://schemas.microsoft.com/office/drawing/2014/main" id="{2EBB9575-FBDC-4CC9-8A2A-21806364C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08885">
            <a:off x="-1992207" y="5203125"/>
            <a:ext cx="341445" cy="34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BD05DBB-8792-473C-82CC-E7ED42F00B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69663">
            <a:off x="-3415979" y="2766703"/>
            <a:ext cx="309213" cy="30921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CB04CDF-3B94-495A-9998-1741D4158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705" y="1723268"/>
            <a:ext cx="4876800" cy="4876800"/>
          </a:xfrm>
          <a:prstGeom prst="rect">
            <a:avLst/>
          </a:prstGeom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3495229" y="1212040"/>
            <a:ext cx="8696769" cy="5645960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1" y="4332685"/>
            <a:ext cx="3725966" cy="2525312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565316" y="257932"/>
            <a:ext cx="9061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-3668927" y="4332685"/>
            <a:ext cx="32929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2072433" y="4358339"/>
            <a:ext cx="3668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GROUP">
            <a:extLst>
              <a:ext uri="{FF2B5EF4-FFF2-40B4-BE49-F238E27FC236}">
                <a16:creationId xmlns:a16="http://schemas.microsoft.com/office/drawing/2014/main" id="{E9BE9072-46C7-4662-B29B-837B1BF3A310}"/>
              </a:ext>
            </a:extLst>
          </p:cNvPr>
          <p:cNvSpPr txBox="1"/>
          <p:nvPr/>
        </p:nvSpPr>
        <p:spPr>
          <a:xfrm>
            <a:off x="7617090" y="4035020"/>
            <a:ext cx="45749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 Intelligence is a branch of computer science that tries to create machines capable of thinking, learning, and making decisions like humans.</a:t>
            </a:r>
            <a:endParaRPr lang="fr-FR" sz="24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1" name="GROUP">
            <a:extLst>
              <a:ext uri="{FF2B5EF4-FFF2-40B4-BE49-F238E27FC236}">
                <a16:creationId xmlns:a16="http://schemas.microsoft.com/office/drawing/2014/main" id="{5F05E2CD-0496-488B-A4CD-8003C376ED75}"/>
              </a:ext>
            </a:extLst>
          </p:cNvPr>
          <p:cNvSpPr txBox="1"/>
          <p:nvPr/>
        </p:nvSpPr>
        <p:spPr>
          <a:xfrm>
            <a:off x="-87792" y="5534389"/>
            <a:ext cx="2051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Perception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2" name="GROUP">
            <a:extLst>
              <a:ext uri="{FF2B5EF4-FFF2-40B4-BE49-F238E27FC236}">
                <a16:creationId xmlns:a16="http://schemas.microsoft.com/office/drawing/2014/main" id="{7440AA5E-2DCB-4B81-9E73-43BAF2691558}"/>
              </a:ext>
            </a:extLst>
          </p:cNvPr>
          <p:cNvSpPr txBox="1"/>
          <p:nvPr/>
        </p:nvSpPr>
        <p:spPr>
          <a:xfrm>
            <a:off x="-101780" y="5892582"/>
            <a:ext cx="2051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R</a:t>
            </a:r>
            <a:r>
              <a:rPr lang="fr-FR" sz="2000" dirty="0" err="1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easoning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3" name="GROUP">
            <a:extLst>
              <a:ext uri="{FF2B5EF4-FFF2-40B4-BE49-F238E27FC236}">
                <a16:creationId xmlns:a16="http://schemas.microsoft.com/office/drawing/2014/main" id="{455B98F3-BC78-4791-9B5E-72305E1CA66D}"/>
              </a:ext>
            </a:extLst>
          </p:cNvPr>
          <p:cNvSpPr txBox="1"/>
          <p:nvPr/>
        </p:nvSpPr>
        <p:spPr>
          <a:xfrm>
            <a:off x="70437" y="6246325"/>
            <a:ext cx="1706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A</a:t>
            </a:r>
            <a:r>
              <a:rPr lang="fr-FR" sz="2000" dirty="0" err="1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ction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07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1" name="Picture 2" descr="Icône N8N aux formats SVG et PNG">
            <a:extLst>
              <a:ext uri="{FF2B5EF4-FFF2-40B4-BE49-F238E27FC236}">
                <a16:creationId xmlns:a16="http://schemas.microsoft.com/office/drawing/2014/main" id="{F565119B-029A-421C-9A15-FF1288FB5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1354">
            <a:off x="15368282" y="5649003"/>
            <a:ext cx="325698" cy="32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Icône Zapier aux formats SVG et PNG">
            <a:extLst>
              <a:ext uri="{FF2B5EF4-FFF2-40B4-BE49-F238E27FC236}">
                <a16:creationId xmlns:a16="http://schemas.microsoft.com/office/drawing/2014/main" id="{3A4CE728-4F80-47D5-94BB-4742C8269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977365">
            <a:off x="16483200" y="3703585"/>
            <a:ext cx="339691" cy="33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Make Status">
            <a:extLst>
              <a:ext uri="{FF2B5EF4-FFF2-40B4-BE49-F238E27FC236}">
                <a16:creationId xmlns:a16="http://schemas.microsoft.com/office/drawing/2014/main" id="{FC441585-54B2-4685-8E2C-5D184C5B4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56816">
            <a:off x="14267352" y="7194902"/>
            <a:ext cx="456793" cy="9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F6B4EE0-A5E4-4DAD-8808-0C3087864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79381">
            <a:off x="3446366" y="1547118"/>
            <a:ext cx="1466316" cy="1466316"/>
          </a:xfrm>
          <a:prstGeom prst="rect">
            <a:avLst/>
          </a:prstGeom>
        </p:spPr>
      </p:pic>
      <p:pic>
        <p:nvPicPr>
          <p:cNvPr id="1026" name="Picture 2" descr="Icône Google Gemini aux formats SVG et PNG">
            <a:extLst>
              <a:ext uri="{FF2B5EF4-FFF2-40B4-BE49-F238E27FC236}">
                <a16:creationId xmlns:a16="http://schemas.microsoft.com/office/drawing/2014/main" id="{81B23F9B-C1CA-453B-9C9B-532577E77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3363">
            <a:off x="4965304" y="3314896"/>
            <a:ext cx="1280634" cy="128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ône de copilote aux formats SVG et PNG">
            <a:extLst>
              <a:ext uri="{FF2B5EF4-FFF2-40B4-BE49-F238E27FC236}">
                <a16:creationId xmlns:a16="http://schemas.microsoft.com/office/drawing/2014/main" id="{062890BF-E1D6-4458-8BBB-B2B93232E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45186">
            <a:off x="5542304" y="1782448"/>
            <a:ext cx="1222494" cy="122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ône Grok AI aux formats SVG et PNG">
            <a:extLst>
              <a:ext uri="{FF2B5EF4-FFF2-40B4-BE49-F238E27FC236}">
                <a16:creationId xmlns:a16="http://schemas.microsoft.com/office/drawing/2014/main" id="{B70CADAB-D50C-48F1-B9A7-435D5E04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279" y="4217338"/>
            <a:ext cx="10096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CB04CDF-3B94-495A-9998-1741D4158E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18601" y="7298109"/>
            <a:ext cx="972776" cy="972776"/>
          </a:xfrm>
          <a:prstGeom prst="rect">
            <a:avLst/>
          </a:prstGeom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9673838" y="5371792"/>
            <a:ext cx="2518161" cy="1486207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-299103"/>
            <a:ext cx="7443387" cy="715710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565316" y="257932"/>
            <a:ext cx="9061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GROUP">
            <a:extLst>
              <a:ext uri="{FF2B5EF4-FFF2-40B4-BE49-F238E27FC236}">
                <a16:creationId xmlns:a16="http://schemas.microsoft.com/office/drawing/2014/main" id="{E9BE9072-46C7-4662-B29B-837B1BF3A310}"/>
              </a:ext>
            </a:extLst>
          </p:cNvPr>
          <p:cNvSpPr txBox="1"/>
          <p:nvPr/>
        </p:nvSpPr>
        <p:spPr>
          <a:xfrm>
            <a:off x="13590600" y="4863962"/>
            <a:ext cx="45749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 Intelligence is a branch of computer science that tries to create machines capable of thinking, learning, and making decisions like humans.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D0C60634-78C8-4AEC-ACEA-684C79BA0319}"/>
              </a:ext>
            </a:extLst>
          </p:cNvPr>
          <p:cNvSpPr txBox="1"/>
          <p:nvPr/>
        </p:nvSpPr>
        <p:spPr>
          <a:xfrm>
            <a:off x="-48435" y="4648518"/>
            <a:ext cx="551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Narrow Intelligence (ANI)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GROUP">
            <a:extLst>
              <a:ext uri="{FF2B5EF4-FFF2-40B4-BE49-F238E27FC236}">
                <a16:creationId xmlns:a16="http://schemas.microsoft.com/office/drawing/2014/main" id="{1604C0A9-DC2F-46C5-A3EA-CCEF31236E66}"/>
              </a:ext>
            </a:extLst>
          </p:cNvPr>
          <p:cNvSpPr txBox="1"/>
          <p:nvPr/>
        </p:nvSpPr>
        <p:spPr>
          <a:xfrm>
            <a:off x="182313" y="5372846"/>
            <a:ext cx="520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General Intelligence (AGI)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D9CF92F4-475F-48C5-9FF3-BE1BE018D468}"/>
              </a:ext>
            </a:extLst>
          </p:cNvPr>
          <p:cNvSpPr txBox="1"/>
          <p:nvPr/>
        </p:nvSpPr>
        <p:spPr>
          <a:xfrm>
            <a:off x="105401" y="6007930"/>
            <a:ext cx="505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Super Intelligence (ASI)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77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7" name="Picture 2" descr="Icône de conséquence aux formats SVG et PNG">
            <a:extLst>
              <a:ext uri="{FF2B5EF4-FFF2-40B4-BE49-F238E27FC236}">
                <a16:creationId xmlns:a16="http://schemas.microsoft.com/office/drawing/2014/main" id="{83F02381-80C9-48BD-A20D-CE2CEF1AF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cône N8N aux formats SVG et PNG">
            <a:extLst>
              <a:ext uri="{FF2B5EF4-FFF2-40B4-BE49-F238E27FC236}">
                <a16:creationId xmlns:a16="http://schemas.microsoft.com/office/drawing/2014/main" id="{04474605-138C-49B4-8E1A-B1CA83CA1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198">
            <a:off x="7085529" y="3425925"/>
            <a:ext cx="1724318" cy="172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cône Zapier aux formats SVG et PNG">
            <a:extLst>
              <a:ext uri="{FF2B5EF4-FFF2-40B4-BE49-F238E27FC236}">
                <a16:creationId xmlns:a16="http://schemas.microsoft.com/office/drawing/2014/main" id="{1342A50D-A5F4-416E-9A3E-0FDF51F13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61962">
            <a:off x="8502700" y="1775730"/>
            <a:ext cx="1798401" cy="179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ke Status">
            <a:extLst>
              <a:ext uri="{FF2B5EF4-FFF2-40B4-BE49-F238E27FC236}">
                <a16:creationId xmlns:a16="http://schemas.microsoft.com/office/drawing/2014/main" id="{C3028F1B-CCE6-4C64-9EC6-BBE7ABAD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92234">
            <a:off x="5529378" y="5156463"/>
            <a:ext cx="2418362" cy="49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F6B4EE0-A5E4-4DAD-8808-0C30878649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11596">
            <a:off x="490570" y="3048062"/>
            <a:ext cx="1117960" cy="1117960"/>
          </a:xfrm>
          <a:prstGeom prst="rect">
            <a:avLst/>
          </a:prstGeom>
        </p:spPr>
      </p:pic>
      <p:pic>
        <p:nvPicPr>
          <p:cNvPr id="1026" name="Picture 2" descr="Icône Google Gemini aux formats SVG et PNG">
            <a:extLst>
              <a:ext uri="{FF2B5EF4-FFF2-40B4-BE49-F238E27FC236}">
                <a16:creationId xmlns:a16="http://schemas.microsoft.com/office/drawing/2014/main" id="{81B23F9B-C1CA-453B-9C9B-532577E77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15578">
            <a:off x="1470284" y="4766465"/>
            <a:ext cx="976391" cy="97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ône de copilote aux formats SVG et PNG">
            <a:extLst>
              <a:ext uri="{FF2B5EF4-FFF2-40B4-BE49-F238E27FC236}">
                <a16:creationId xmlns:a16="http://schemas.microsoft.com/office/drawing/2014/main" id="{062890BF-E1D6-4458-8BBB-B2B93232E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77401">
            <a:off x="1858424" y="3572718"/>
            <a:ext cx="932063" cy="9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ône Grok AI aux formats SVG et PNG">
            <a:extLst>
              <a:ext uri="{FF2B5EF4-FFF2-40B4-BE49-F238E27FC236}">
                <a16:creationId xmlns:a16="http://schemas.microsoft.com/office/drawing/2014/main" id="{B70CADAB-D50C-48F1-B9A7-435D5E043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32215">
            <a:off x="2417963" y="5798644"/>
            <a:ext cx="769785" cy="76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7033444" y="1777526"/>
            <a:ext cx="5158553" cy="5080474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3281585"/>
            <a:ext cx="2324455" cy="357641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565316" y="257932"/>
            <a:ext cx="9061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GROUP">
            <a:extLst>
              <a:ext uri="{FF2B5EF4-FFF2-40B4-BE49-F238E27FC236}">
                <a16:creationId xmlns:a16="http://schemas.microsoft.com/office/drawing/2014/main" id="{E9BE9072-46C7-4662-B29B-837B1BF3A310}"/>
              </a:ext>
            </a:extLst>
          </p:cNvPr>
          <p:cNvSpPr txBox="1"/>
          <p:nvPr/>
        </p:nvSpPr>
        <p:spPr>
          <a:xfrm>
            <a:off x="13590600" y="4863962"/>
            <a:ext cx="45749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 Intelligence is a branch of computer science that tries to create machines capable of thinking, learning, and making decisions like humans.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D0C60634-78C8-4AEC-ACEA-684C79BA0319}"/>
              </a:ext>
            </a:extLst>
          </p:cNvPr>
          <p:cNvSpPr txBox="1"/>
          <p:nvPr/>
        </p:nvSpPr>
        <p:spPr>
          <a:xfrm>
            <a:off x="87975" y="5049126"/>
            <a:ext cx="961576" cy="41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ANI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GROUP">
            <a:extLst>
              <a:ext uri="{FF2B5EF4-FFF2-40B4-BE49-F238E27FC236}">
                <a16:creationId xmlns:a16="http://schemas.microsoft.com/office/drawing/2014/main" id="{1604C0A9-DC2F-46C5-A3EA-CCEF31236E66}"/>
              </a:ext>
            </a:extLst>
          </p:cNvPr>
          <p:cNvSpPr txBox="1"/>
          <p:nvPr/>
        </p:nvSpPr>
        <p:spPr>
          <a:xfrm>
            <a:off x="18233" y="5521316"/>
            <a:ext cx="110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AGI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D9CF92F4-475F-48C5-9FF3-BE1BE018D468}"/>
              </a:ext>
            </a:extLst>
          </p:cNvPr>
          <p:cNvSpPr txBox="1"/>
          <p:nvPr/>
        </p:nvSpPr>
        <p:spPr>
          <a:xfrm>
            <a:off x="-284723" y="5934155"/>
            <a:ext cx="1706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ASI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GROUP">
            <a:extLst>
              <a:ext uri="{FF2B5EF4-FFF2-40B4-BE49-F238E27FC236}">
                <a16:creationId xmlns:a16="http://schemas.microsoft.com/office/drawing/2014/main" id="{922C0A24-D8C9-4E1F-B12D-FF46A86F0EFE}"/>
              </a:ext>
            </a:extLst>
          </p:cNvPr>
          <p:cNvSpPr txBox="1"/>
          <p:nvPr/>
        </p:nvSpPr>
        <p:spPr>
          <a:xfrm>
            <a:off x="7965238" y="4556185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Simple Reflex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BCE2E544-F399-4322-A5DD-9A928D3EBF52}"/>
              </a:ext>
            </a:extLst>
          </p:cNvPr>
          <p:cNvSpPr txBox="1"/>
          <p:nvPr/>
        </p:nvSpPr>
        <p:spPr>
          <a:xfrm>
            <a:off x="7965239" y="4902028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Model-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Reflex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GROUP">
            <a:extLst>
              <a:ext uri="{FF2B5EF4-FFF2-40B4-BE49-F238E27FC236}">
                <a16:creationId xmlns:a16="http://schemas.microsoft.com/office/drawing/2014/main" id="{5BFDBDCD-6095-4862-9206-C3DBEA377B18}"/>
              </a:ext>
            </a:extLst>
          </p:cNvPr>
          <p:cNvSpPr txBox="1"/>
          <p:nvPr/>
        </p:nvSpPr>
        <p:spPr>
          <a:xfrm>
            <a:off x="7916124" y="5250419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Goal-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GROUP">
            <a:extLst>
              <a:ext uri="{FF2B5EF4-FFF2-40B4-BE49-F238E27FC236}">
                <a16:creationId xmlns:a16="http://schemas.microsoft.com/office/drawing/2014/main" id="{D51EB38B-2E1F-468F-B420-2F71AAF129DD}"/>
              </a:ext>
            </a:extLst>
          </p:cNvPr>
          <p:cNvSpPr txBox="1"/>
          <p:nvPr/>
        </p:nvSpPr>
        <p:spPr>
          <a:xfrm>
            <a:off x="7898574" y="5597175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Utility-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GROUP">
            <a:extLst>
              <a:ext uri="{FF2B5EF4-FFF2-40B4-BE49-F238E27FC236}">
                <a16:creationId xmlns:a16="http://schemas.microsoft.com/office/drawing/2014/main" id="{C89AE844-ED1C-426B-A009-90863D3CB843}"/>
              </a:ext>
            </a:extLst>
          </p:cNvPr>
          <p:cNvSpPr txBox="1"/>
          <p:nvPr/>
        </p:nvSpPr>
        <p:spPr>
          <a:xfrm>
            <a:off x="7965239" y="5897630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Learning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8" name="GROUP">
            <a:extLst>
              <a:ext uri="{FF2B5EF4-FFF2-40B4-BE49-F238E27FC236}">
                <a16:creationId xmlns:a16="http://schemas.microsoft.com/office/drawing/2014/main" id="{66BB3F1F-ED13-4413-B277-E8A9ADCC4D3B}"/>
              </a:ext>
            </a:extLst>
          </p:cNvPr>
          <p:cNvSpPr txBox="1"/>
          <p:nvPr/>
        </p:nvSpPr>
        <p:spPr>
          <a:xfrm>
            <a:off x="-5788953" y="4706294"/>
            <a:ext cx="5517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Narrow Intelligence (ANI)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" name="GROUP">
            <a:extLst>
              <a:ext uri="{FF2B5EF4-FFF2-40B4-BE49-F238E27FC236}">
                <a16:creationId xmlns:a16="http://schemas.microsoft.com/office/drawing/2014/main" id="{F29D3AC4-F94D-46A9-BE47-5D6D59D9AD8A}"/>
              </a:ext>
            </a:extLst>
          </p:cNvPr>
          <p:cNvSpPr txBox="1"/>
          <p:nvPr/>
        </p:nvSpPr>
        <p:spPr>
          <a:xfrm>
            <a:off x="-5558205" y="5430622"/>
            <a:ext cx="5201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General Intelligence (AGI)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0" name="GROUP">
            <a:extLst>
              <a:ext uri="{FF2B5EF4-FFF2-40B4-BE49-F238E27FC236}">
                <a16:creationId xmlns:a16="http://schemas.microsoft.com/office/drawing/2014/main" id="{ED7F47CB-E1A7-4679-A5DE-41B73C4C27CB}"/>
              </a:ext>
            </a:extLst>
          </p:cNvPr>
          <p:cNvSpPr txBox="1"/>
          <p:nvPr/>
        </p:nvSpPr>
        <p:spPr>
          <a:xfrm>
            <a:off x="-5635117" y="6065706"/>
            <a:ext cx="5056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Super Intelligence (ASI)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6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9" name="Picture 2" descr="Icône Google Gemini aux formats SVG et PNG">
            <a:extLst>
              <a:ext uri="{FF2B5EF4-FFF2-40B4-BE49-F238E27FC236}">
                <a16:creationId xmlns:a16="http://schemas.microsoft.com/office/drawing/2014/main" id="{7CC66854-0AB7-4065-9ED2-439062182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30635">
            <a:off x="-3354610" y="4156665"/>
            <a:ext cx="433087" cy="43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Icône de copilote aux formats SVG et PNG">
            <a:extLst>
              <a:ext uri="{FF2B5EF4-FFF2-40B4-BE49-F238E27FC236}">
                <a16:creationId xmlns:a16="http://schemas.microsoft.com/office/drawing/2014/main" id="{FF74C03C-85F3-40CE-B5BA-980BC42B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39884">
            <a:off x="-2051357" y="3804874"/>
            <a:ext cx="413425" cy="41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Icône Grok AI aux formats SVG et PNG">
            <a:extLst>
              <a:ext uri="{FF2B5EF4-FFF2-40B4-BE49-F238E27FC236}">
                <a16:creationId xmlns:a16="http://schemas.microsoft.com/office/drawing/2014/main" id="{B8F6CEF0-88D8-4E78-810C-91F2887BC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08885">
            <a:off x="-1992207" y="5203125"/>
            <a:ext cx="341445" cy="34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7BEAA3C3-A426-4F61-BD76-1C6742E3B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69663">
            <a:off x="-3415979" y="2766703"/>
            <a:ext cx="309213" cy="309213"/>
          </a:xfrm>
          <a:prstGeom prst="rect">
            <a:avLst/>
          </a:prstGeom>
        </p:spPr>
      </p:pic>
      <p:pic>
        <p:nvPicPr>
          <p:cNvPr id="22" name="Picture 2" descr="Icône N8N aux formats SVG et PNG">
            <a:extLst>
              <a:ext uri="{FF2B5EF4-FFF2-40B4-BE49-F238E27FC236}">
                <a16:creationId xmlns:a16="http://schemas.microsoft.com/office/drawing/2014/main" id="{BCDCF9F4-9217-40E4-8A29-7EB461755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1354">
            <a:off x="15368282" y="5649003"/>
            <a:ext cx="325698" cy="32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Icône Zapier aux formats SVG et PNG">
            <a:extLst>
              <a:ext uri="{FF2B5EF4-FFF2-40B4-BE49-F238E27FC236}">
                <a16:creationId xmlns:a16="http://schemas.microsoft.com/office/drawing/2014/main" id="{5D23DA25-ABBA-449C-A945-446A6AE8B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977365">
            <a:off x="16483200" y="3703585"/>
            <a:ext cx="339691" cy="33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Make Status">
            <a:extLst>
              <a:ext uri="{FF2B5EF4-FFF2-40B4-BE49-F238E27FC236}">
                <a16:creationId xmlns:a16="http://schemas.microsoft.com/office/drawing/2014/main" id="{1CE41461-4699-422E-AADA-2DCFB2E28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56816">
            <a:off x="14267352" y="7194902"/>
            <a:ext cx="456793" cy="9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cône de conséquence aux formats SVG et PNG">
            <a:extLst>
              <a:ext uri="{FF2B5EF4-FFF2-40B4-BE49-F238E27FC236}">
                <a16:creationId xmlns:a16="http://schemas.microsoft.com/office/drawing/2014/main" id="{F1B30D96-2082-4D7C-ADB2-B640D0FD0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833" y="3232184"/>
            <a:ext cx="4279217" cy="427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411604" y="-2"/>
            <a:ext cx="6780391" cy="6858002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3281585"/>
            <a:ext cx="2324455" cy="357641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565316" y="257932"/>
            <a:ext cx="9061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</a:t>
            </a:r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-</a:t>
            </a:r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GROUP">
            <a:extLst>
              <a:ext uri="{FF2B5EF4-FFF2-40B4-BE49-F238E27FC236}">
                <a16:creationId xmlns:a16="http://schemas.microsoft.com/office/drawing/2014/main" id="{E9BE9072-46C7-4662-B29B-837B1BF3A310}"/>
              </a:ext>
            </a:extLst>
          </p:cNvPr>
          <p:cNvSpPr txBox="1"/>
          <p:nvPr/>
        </p:nvSpPr>
        <p:spPr>
          <a:xfrm>
            <a:off x="13590600" y="4863962"/>
            <a:ext cx="45749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 Intelligence is a branch of computer science that tries to create machines capable of thinking, learning, and making decisions like humans.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D0C60634-78C8-4AEC-ACEA-684C79BA0319}"/>
              </a:ext>
            </a:extLst>
          </p:cNvPr>
          <p:cNvSpPr txBox="1"/>
          <p:nvPr/>
        </p:nvSpPr>
        <p:spPr>
          <a:xfrm>
            <a:off x="-1118299" y="5044884"/>
            <a:ext cx="961576" cy="411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ANI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GROUP">
            <a:extLst>
              <a:ext uri="{FF2B5EF4-FFF2-40B4-BE49-F238E27FC236}">
                <a16:creationId xmlns:a16="http://schemas.microsoft.com/office/drawing/2014/main" id="{1604C0A9-DC2F-46C5-A3EA-CCEF31236E66}"/>
              </a:ext>
            </a:extLst>
          </p:cNvPr>
          <p:cNvSpPr txBox="1"/>
          <p:nvPr/>
        </p:nvSpPr>
        <p:spPr>
          <a:xfrm>
            <a:off x="-1188041" y="5517074"/>
            <a:ext cx="110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AGI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D9CF92F4-475F-48C5-9FF3-BE1BE018D468}"/>
              </a:ext>
            </a:extLst>
          </p:cNvPr>
          <p:cNvSpPr txBox="1"/>
          <p:nvPr/>
        </p:nvSpPr>
        <p:spPr>
          <a:xfrm>
            <a:off x="-1490997" y="5929913"/>
            <a:ext cx="1706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ASI</a:t>
            </a:r>
            <a:endParaRPr lang="fr-FR" sz="20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GROUP">
            <a:extLst>
              <a:ext uri="{FF2B5EF4-FFF2-40B4-BE49-F238E27FC236}">
                <a16:creationId xmlns:a16="http://schemas.microsoft.com/office/drawing/2014/main" id="{922C0A24-D8C9-4E1F-B12D-FF46A86F0EFE}"/>
              </a:ext>
            </a:extLst>
          </p:cNvPr>
          <p:cNvSpPr txBox="1"/>
          <p:nvPr/>
        </p:nvSpPr>
        <p:spPr>
          <a:xfrm>
            <a:off x="14790014" y="4352258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Simple Reflex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BCE2E544-F399-4322-A5DD-9A928D3EBF52}"/>
              </a:ext>
            </a:extLst>
          </p:cNvPr>
          <p:cNvSpPr txBox="1"/>
          <p:nvPr/>
        </p:nvSpPr>
        <p:spPr>
          <a:xfrm>
            <a:off x="14790015" y="4698101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Model-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Reflex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GROUP">
            <a:extLst>
              <a:ext uri="{FF2B5EF4-FFF2-40B4-BE49-F238E27FC236}">
                <a16:creationId xmlns:a16="http://schemas.microsoft.com/office/drawing/2014/main" id="{5BFDBDCD-6095-4862-9206-C3DBEA377B18}"/>
              </a:ext>
            </a:extLst>
          </p:cNvPr>
          <p:cNvSpPr txBox="1"/>
          <p:nvPr/>
        </p:nvSpPr>
        <p:spPr>
          <a:xfrm>
            <a:off x="14740900" y="5046492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Goal-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GROUP">
            <a:extLst>
              <a:ext uri="{FF2B5EF4-FFF2-40B4-BE49-F238E27FC236}">
                <a16:creationId xmlns:a16="http://schemas.microsoft.com/office/drawing/2014/main" id="{D51EB38B-2E1F-468F-B420-2F71AAF129DD}"/>
              </a:ext>
            </a:extLst>
          </p:cNvPr>
          <p:cNvSpPr txBox="1"/>
          <p:nvPr/>
        </p:nvSpPr>
        <p:spPr>
          <a:xfrm>
            <a:off x="14723350" y="5393248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Utility-</a:t>
            </a:r>
            <a:r>
              <a:rPr lang="fr-FR" sz="1400" b="0" i="0" dirty="0" err="1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Based</a:t>
            </a:r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GROUP">
            <a:extLst>
              <a:ext uri="{FF2B5EF4-FFF2-40B4-BE49-F238E27FC236}">
                <a16:creationId xmlns:a16="http://schemas.microsoft.com/office/drawing/2014/main" id="{C89AE844-ED1C-426B-A009-90863D3CB843}"/>
              </a:ext>
            </a:extLst>
          </p:cNvPr>
          <p:cNvSpPr txBox="1"/>
          <p:nvPr/>
        </p:nvSpPr>
        <p:spPr>
          <a:xfrm>
            <a:off x="14790015" y="5693703"/>
            <a:ext cx="5517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Learning Agents</a:t>
            </a:r>
            <a:endParaRPr lang="fr-FR" sz="14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3" name="GROUP">
            <a:extLst>
              <a:ext uri="{FF2B5EF4-FFF2-40B4-BE49-F238E27FC236}">
                <a16:creationId xmlns:a16="http://schemas.microsoft.com/office/drawing/2014/main" id="{FF25025E-C03F-4190-AC43-6B61578753C7}"/>
              </a:ext>
            </a:extLst>
          </p:cNvPr>
          <p:cNvSpPr txBox="1"/>
          <p:nvPr/>
        </p:nvSpPr>
        <p:spPr>
          <a:xfrm>
            <a:off x="1621671" y="2495367"/>
            <a:ext cx="9061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 err="1">
                <a:latin typeface="Rockwell" panose="02060603020205020403" pitchFamily="18" charset="0"/>
                <a:ea typeface="Roboto" panose="02000000000000000000" pitchFamily="2" charset="0"/>
                <a:cs typeface="Poppins SemiBold" panose="00000700000000000000" pitchFamily="2" charset="0"/>
              </a:rPr>
              <a:t>Increase</a:t>
            </a:r>
            <a:endParaRPr lang="fr-FR" sz="7200" dirty="0">
              <a:latin typeface="Rockwell" panose="02060603020205020403" pitchFamily="18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4" name="GROUP">
            <a:extLst>
              <a:ext uri="{FF2B5EF4-FFF2-40B4-BE49-F238E27FC236}">
                <a16:creationId xmlns:a16="http://schemas.microsoft.com/office/drawing/2014/main" id="{6F24390E-C2D1-4AFC-8D87-38C8E24A47A0}"/>
              </a:ext>
            </a:extLst>
          </p:cNvPr>
          <p:cNvSpPr txBox="1"/>
          <p:nvPr/>
        </p:nvSpPr>
        <p:spPr>
          <a:xfrm>
            <a:off x="7092132" y="4548012"/>
            <a:ext cx="54241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5" name="GROUP">
            <a:extLst>
              <a:ext uri="{FF2B5EF4-FFF2-40B4-BE49-F238E27FC236}">
                <a16:creationId xmlns:a16="http://schemas.microsoft.com/office/drawing/2014/main" id="{7C0EAA10-3928-4E42-AF99-E99B3F68237E}"/>
              </a:ext>
            </a:extLst>
          </p:cNvPr>
          <p:cNvSpPr txBox="1"/>
          <p:nvPr/>
        </p:nvSpPr>
        <p:spPr>
          <a:xfrm>
            <a:off x="-3668927" y="4332685"/>
            <a:ext cx="32929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6" name="GROUP">
            <a:extLst>
              <a:ext uri="{FF2B5EF4-FFF2-40B4-BE49-F238E27FC236}">
                <a16:creationId xmlns:a16="http://schemas.microsoft.com/office/drawing/2014/main" id="{EC570585-118B-4E0A-B2AA-4912CC63680E}"/>
              </a:ext>
            </a:extLst>
          </p:cNvPr>
          <p:cNvSpPr txBox="1"/>
          <p:nvPr/>
        </p:nvSpPr>
        <p:spPr>
          <a:xfrm>
            <a:off x="12072433" y="4358339"/>
            <a:ext cx="3668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62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264209" y="-2"/>
            <a:ext cx="6927788" cy="6858001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-4"/>
            <a:ext cx="6095995" cy="685800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4261535" y="1804721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43150" y="4362620"/>
            <a:ext cx="3668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8414833" y="4362620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2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1" name="GROUP">
            <a:extLst>
              <a:ext uri="{FF2B5EF4-FFF2-40B4-BE49-F238E27FC236}">
                <a16:creationId xmlns:a16="http://schemas.microsoft.com/office/drawing/2014/main" id="{8186D61A-D4DE-450A-AFFD-469C1645366C}"/>
              </a:ext>
            </a:extLst>
          </p:cNvPr>
          <p:cNvSpPr txBox="1"/>
          <p:nvPr/>
        </p:nvSpPr>
        <p:spPr>
          <a:xfrm>
            <a:off x="-2544164" y="8906933"/>
            <a:ext cx="4303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1. Customer service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7CE931E-D297-4871-A437-0EA7F3EFBEDC}"/>
              </a:ext>
            </a:extLst>
          </p:cNvPr>
          <p:cNvSpPr txBox="1"/>
          <p:nvPr/>
        </p:nvSpPr>
        <p:spPr>
          <a:xfrm>
            <a:off x="13741757" y="2365675"/>
            <a:ext cx="6689055" cy="205798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Many companies use AI chatbots to help customers.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For example, when you open a website and a chat box appears asking, “How can I help you?”, that’s usually an AI program.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answers simple questions, gives information, and helps customers 24 hours a day.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saves time and money for companies.</a:t>
            </a:r>
          </a:p>
        </p:txBody>
      </p:sp>
    </p:spTree>
    <p:extLst>
      <p:ext uri="{BB962C8B-B14F-4D97-AF65-F5344CB8AC3E}">
        <p14:creationId xmlns:p14="http://schemas.microsoft.com/office/powerpoint/2010/main" val="2591001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7A57329F-F660-41D0-B894-186FBBB70D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5"/>
          <a:stretch/>
        </p:blipFill>
        <p:spPr bwMode="auto">
          <a:xfrm rot="19249255">
            <a:off x="-2841796" y="5749570"/>
            <a:ext cx="665162" cy="102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81DE4D3-93C3-46F0-8014-FADBC1F94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4082">
            <a:off x="2704638" y="7856595"/>
            <a:ext cx="925868" cy="925868"/>
          </a:xfrm>
          <a:prstGeom prst="rect">
            <a:avLst/>
          </a:prstGeom>
        </p:spPr>
      </p:pic>
      <p:pic>
        <p:nvPicPr>
          <p:cNvPr id="20" name="Picture 4" descr="DBS">
            <a:extLst>
              <a:ext uri="{FF2B5EF4-FFF2-40B4-BE49-F238E27FC236}">
                <a16:creationId xmlns:a16="http://schemas.microsoft.com/office/drawing/2014/main" id="{00B2C39F-1587-491C-97B8-37696CD88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62859">
            <a:off x="-1603498" y="6544602"/>
            <a:ext cx="1960433" cy="27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Icône de vente en ligne aux formats SVG et PNG">
            <a:extLst>
              <a:ext uri="{FF2B5EF4-FFF2-40B4-BE49-F238E27FC236}">
                <a16:creationId xmlns:a16="http://schemas.microsoft.com/office/drawing/2014/main" id="{3B0CC864-40C2-49C2-B312-0E412C9F7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6549" flipH="1">
            <a:off x="14426251" y="6318142"/>
            <a:ext cx="1375643" cy="13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1786F1D5-A614-4421-889B-1A18C925A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594" y="2185747"/>
            <a:ext cx="4613614" cy="461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264209" y="-2"/>
            <a:ext cx="6927788" cy="6858001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2127108"/>
            <a:ext cx="5332576" cy="4730892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335044" y="-1569660"/>
            <a:ext cx="8453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277961" y="265059"/>
            <a:ext cx="763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3191932" y="5703322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17DFE8BD-AF10-491B-9C6F-595F4E4955E0}"/>
              </a:ext>
            </a:extLst>
          </p:cNvPr>
          <p:cNvSpPr txBox="1"/>
          <p:nvPr/>
        </p:nvSpPr>
        <p:spPr>
          <a:xfrm>
            <a:off x="166790" y="5226268"/>
            <a:ext cx="3016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1. Customer service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2E7CA-4CAD-4984-A1CF-EC13B18E1019}"/>
              </a:ext>
            </a:extLst>
          </p:cNvPr>
          <p:cNvSpPr txBox="1"/>
          <p:nvPr/>
        </p:nvSpPr>
        <p:spPr>
          <a:xfrm>
            <a:off x="7772393" y="4044089"/>
            <a:ext cx="4338668" cy="205798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Many companies use AI chatbots to help customers.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For example, when you open a website and a chat box appears asking, “How can I help you?”, that’s usually an AI program.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answers simple questions, gives information, and helps customers 24 hours a day.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saves time and money for companies.</a:t>
            </a: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CA356D32-50BF-4321-A7BC-15F30C28E6C1}"/>
              </a:ext>
            </a:extLst>
          </p:cNvPr>
          <p:cNvSpPr txBox="1"/>
          <p:nvPr/>
        </p:nvSpPr>
        <p:spPr>
          <a:xfrm>
            <a:off x="15593594" y="4857636"/>
            <a:ext cx="42342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2. Online shopping and recommendations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6CFCE82-3696-4D41-9590-F3E10447D50F}"/>
              </a:ext>
            </a:extLst>
          </p:cNvPr>
          <p:cNvSpPr txBox="1"/>
          <p:nvPr/>
        </p:nvSpPr>
        <p:spPr>
          <a:xfrm>
            <a:off x="-8294040" y="7037326"/>
            <a:ext cx="8074697" cy="10360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Amazon or Netflix use AI to recommend products or movies.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looks at what you bought or watched before and suggests new things you might like.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helps companies increase their sales and makes customers happier.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AFD04D3E-A454-484E-880C-557E07E6FF2F}"/>
              </a:ext>
            </a:extLst>
          </p:cNvPr>
          <p:cNvSpPr txBox="1"/>
          <p:nvPr/>
        </p:nvSpPr>
        <p:spPr>
          <a:xfrm>
            <a:off x="13767857" y="4651050"/>
            <a:ext cx="4727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Online shopping and recommendations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6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26E969B8-D10A-45C7-AB68-E55375D1B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9943">
            <a:off x="-2424059" y="7205639"/>
            <a:ext cx="1214429" cy="121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Icône FedEx aux formats SVG et PNG">
            <a:extLst>
              <a:ext uri="{FF2B5EF4-FFF2-40B4-BE49-F238E27FC236}">
                <a16:creationId xmlns:a16="http://schemas.microsoft.com/office/drawing/2014/main" id="{22908089-67BE-4673-AD63-2E58BFD6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20181">
            <a:off x="12295721" y="8081049"/>
            <a:ext cx="516523" cy="51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Icône Tesla aux formats SVG et PNG">
            <a:extLst>
              <a:ext uri="{FF2B5EF4-FFF2-40B4-BE49-F238E27FC236}">
                <a16:creationId xmlns:a16="http://schemas.microsoft.com/office/drawing/2014/main" id="{93512FA2-3DEC-4DD8-AABA-F35E0CF9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0742">
            <a:off x="14176161" y="7139947"/>
            <a:ext cx="491115" cy="49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cône DHL aux formats SVG et PNG">
            <a:extLst>
              <a:ext uri="{FF2B5EF4-FFF2-40B4-BE49-F238E27FC236}">
                <a16:creationId xmlns:a16="http://schemas.microsoft.com/office/drawing/2014/main" id="{11E9B93A-72BD-48E1-B95B-2B6C41B96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4212">
            <a:off x="15672109" y="4924753"/>
            <a:ext cx="415044" cy="41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971380D-F67C-4DCC-B2FE-D0CCB666F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11529">
            <a:off x="5579553" y="4335577"/>
            <a:ext cx="1812509" cy="1812509"/>
          </a:xfrm>
          <a:prstGeom prst="rect">
            <a:avLst/>
          </a:prstGeom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3D458620-C598-445B-BE25-836CA8F91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5"/>
          <a:stretch/>
        </p:blipFill>
        <p:spPr bwMode="auto">
          <a:xfrm rot="547459">
            <a:off x="451795" y="1120201"/>
            <a:ext cx="2204776" cy="340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BS">
            <a:extLst>
              <a:ext uri="{FF2B5EF4-FFF2-40B4-BE49-F238E27FC236}">
                <a16:creationId xmlns:a16="http://schemas.microsoft.com/office/drawing/2014/main" id="{6CD27F80-DC15-4FA6-B511-776A532A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91377">
            <a:off x="2071597" y="1116094"/>
            <a:ext cx="3548164" cy="489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cône de vente en ligne aux formats SVG et PNG">
            <a:extLst>
              <a:ext uri="{FF2B5EF4-FFF2-40B4-BE49-F238E27FC236}">
                <a16:creationId xmlns:a16="http://schemas.microsoft.com/office/drawing/2014/main" id="{67852D71-C90E-4BC0-93C8-07C54BDBB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4325" flipH="1">
            <a:off x="7869758" y="1546160"/>
            <a:ext cx="3662794" cy="370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1786F1D5-A614-4421-889B-1A18C925A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332576" y="2982482"/>
            <a:ext cx="6859424" cy="387551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2615012"/>
            <a:ext cx="7495244" cy="4242987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335044" y="-1569660"/>
            <a:ext cx="8453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 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277961" y="265059"/>
            <a:ext cx="763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3191932" y="5703322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17DFE8BD-AF10-491B-9C6F-595F4E4955E0}"/>
              </a:ext>
            </a:extLst>
          </p:cNvPr>
          <p:cNvSpPr txBox="1"/>
          <p:nvPr/>
        </p:nvSpPr>
        <p:spPr>
          <a:xfrm>
            <a:off x="7495244" y="5593855"/>
            <a:ext cx="4727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Online shopping and recommendations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2E7CA-4CAD-4984-A1CF-EC13B18E1019}"/>
              </a:ext>
            </a:extLst>
          </p:cNvPr>
          <p:cNvSpPr txBox="1"/>
          <p:nvPr/>
        </p:nvSpPr>
        <p:spPr>
          <a:xfrm>
            <a:off x="14720532" y="5279715"/>
            <a:ext cx="9189572" cy="119566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Many companies use AI chatbots to help customers.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For example, when you open a website and a chat box appears asking, “How can I help you?”, that’s usually an AI program.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answers simple questions, gives information, and helps customers 24 hours a day.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saves time and money for companies.</a:t>
            </a:r>
          </a:p>
        </p:txBody>
      </p:sp>
      <p:sp>
        <p:nvSpPr>
          <p:cNvPr id="18" name="GROUP">
            <a:extLst>
              <a:ext uri="{FF2B5EF4-FFF2-40B4-BE49-F238E27FC236}">
                <a16:creationId xmlns:a16="http://schemas.microsoft.com/office/drawing/2014/main" id="{98AAF102-EC0F-44DA-B8EA-4EA89FF72D99}"/>
              </a:ext>
            </a:extLst>
          </p:cNvPr>
          <p:cNvSpPr txBox="1"/>
          <p:nvPr/>
        </p:nvSpPr>
        <p:spPr>
          <a:xfrm>
            <a:off x="-4015972" y="5593855"/>
            <a:ext cx="3016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1 – Customer service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32094CF-7CFE-473D-AD49-CB2E7DB64445}"/>
              </a:ext>
            </a:extLst>
          </p:cNvPr>
          <p:cNvSpPr txBox="1"/>
          <p:nvPr/>
        </p:nvSpPr>
        <p:spPr>
          <a:xfrm>
            <a:off x="97931" y="5132276"/>
            <a:ext cx="4734992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Amazon or Netflix use AI to recommend products or movies.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looks at what you bought or watched before and suggests new things you might like.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helps companies increase their sales and makes customers happier.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77B33EAB-3A0C-4250-BC8E-2F8C8FD740A6}"/>
              </a:ext>
            </a:extLst>
          </p:cNvPr>
          <p:cNvSpPr txBox="1"/>
          <p:nvPr/>
        </p:nvSpPr>
        <p:spPr>
          <a:xfrm>
            <a:off x="-4372063" y="6596390"/>
            <a:ext cx="3607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3. Transportation</a:t>
            </a:r>
            <a:endParaRPr lang="fr-FR" sz="11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08D54DB-AB91-4098-A81F-6E4F397EA261}"/>
              </a:ext>
            </a:extLst>
          </p:cNvPr>
          <p:cNvSpPr txBox="1"/>
          <p:nvPr/>
        </p:nvSpPr>
        <p:spPr>
          <a:xfrm>
            <a:off x="15331540" y="5683998"/>
            <a:ext cx="4727903" cy="208639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Tesla use AI for self-driving cars.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systems process data from cameras and sensors to decide how to drive safely.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Also, in delivery companies like DHL or FedEx,  AI helps find the best route to save time and fuel.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300" b="0" i="0" u="none" strike="noStrike" kern="1200" dirty="0">
              <a:ln>
                <a:noFill/>
              </a:ln>
              <a:solidFill>
                <a:schemeClr val="bg1"/>
              </a:solidFill>
              <a:latin typeface="Poppins SemiBold" panose="00000700000000000000" pitchFamily="2" charset="0"/>
              <a:ea typeface="Noto Sans CJK JP:palt" pitchFamily="34"/>
              <a:cs typeface="Poppins SemiBold" panose="00000700000000000000" pitchFamily="2" charset="0"/>
            </a:endParaRPr>
          </a:p>
        </p:txBody>
      </p:sp>
      <p:sp>
        <p:nvSpPr>
          <p:cNvPr id="29" name="GROUP">
            <a:extLst>
              <a:ext uri="{FF2B5EF4-FFF2-40B4-BE49-F238E27FC236}">
                <a16:creationId xmlns:a16="http://schemas.microsoft.com/office/drawing/2014/main" id="{054BDF67-DF9A-4328-AE08-1F11B93453A4}"/>
              </a:ext>
            </a:extLst>
          </p:cNvPr>
          <p:cNvSpPr txBox="1"/>
          <p:nvPr/>
        </p:nvSpPr>
        <p:spPr>
          <a:xfrm>
            <a:off x="-2272163" y="8935965"/>
            <a:ext cx="501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1. Customer service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123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E3192570-E14B-4569-8FE8-82A077C49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5BD3B1F-0890-45AD-8ABF-D7BBED56F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BBC5943E-AE95-4FFA-8BA7-AF7EAA36E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42391">
            <a:off x="-985900" y="8213647"/>
            <a:ext cx="674930" cy="674930"/>
          </a:xfrm>
          <a:prstGeom prst="rect">
            <a:avLst/>
          </a:prstGeom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1F8ED9CC-FDC9-44F1-BD33-A9FE6C95F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cône FedEx aux formats SVG et PNG">
            <a:extLst>
              <a:ext uri="{FF2B5EF4-FFF2-40B4-BE49-F238E27FC236}">
                <a16:creationId xmlns:a16="http://schemas.microsoft.com/office/drawing/2014/main" id="{0BAA278B-8E27-4D6D-A2A2-2F3B5DC31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20181">
            <a:off x="5725470" y="4029779"/>
            <a:ext cx="1768489" cy="176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cône DHL aux formats SVG et PNG">
            <a:extLst>
              <a:ext uri="{FF2B5EF4-FFF2-40B4-BE49-F238E27FC236}">
                <a16:creationId xmlns:a16="http://schemas.microsoft.com/office/drawing/2014/main" id="{B5EDA740-A52C-4F8D-A244-32A9018A0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4212">
            <a:off x="9330927" y="1674307"/>
            <a:ext cx="1421042" cy="142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cône Tesla aux formats SVG et PNG">
            <a:extLst>
              <a:ext uri="{FF2B5EF4-FFF2-40B4-BE49-F238E27FC236}">
                <a16:creationId xmlns:a16="http://schemas.microsoft.com/office/drawing/2014/main" id="{38836A2C-316A-4659-9B7B-BC2294FEA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0742">
            <a:off x="7632478" y="3206235"/>
            <a:ext cx="1681497" cy="168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07276D33-E8FE-41B1-9C3D-8026D1F7C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9943">
            <a:off x="602420" y="2699206"/>
            <a:ext cx="4028355" cy="402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7A57329F-F660-41D0-B894-186FBBB70D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5"/>
          <a:stretch/>
        </p:blipFill>
        <p:spPr bwMode="auto">
          <a:xfrm rot="19249255">
            <a:off x="-4014252" y="6952649"/>
            <a:ext cx="665162" cy="102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81DE4D3-93C3-46F0-8014-FADBC1F946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504082">
            <a:off x="2704638" y="7856595"/>
            <a:ext cx="925868" cy="925868"/>
          </a:xfrm>
          <a:prstGeom prst="rect">
            <a:avLst/>
          </a:prstGeom>
        </p:spPr>
      </p:pic>
      <p:pic>
        <p:nvPicPr>
          <p:cNvPr id="20" name="Picture 4" descr="DBS">
            <a:extLst>
              <a:ext uri="{FF2B5EF4-FFF2-40B4-BE49-F238E27FC236}">
                <a16:creationId xmlns:a16="http://schemas.microsoft.com/office/drawing/2014/main" id="{00B2C39F-1587-491C-97B8-37696CD88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62859">
            <a:off x="-1603498" y="6544602"/>
            <a:ext cx="1960433" cy="27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Icône de vente en ligne aux formats SVG et PNG">
            <a:extLst>
              <a:ext uri="{FF2B5EF4-FFF2-40B4-BE49-F238E27FC236}">
                <a16:creationId xmlns:a16="http://schemas.microsoft.com/office/drawing/2014/main" id="{3B0CC864-40C2-49C2-B312-0E412C9F7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6549" flipH="1">
            <a:off x="14426251" y="6318142"/>
            <a:ext cx="1375643" cy="13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264209" y="1606609"/>
            <a:ext cx="6927788" cy="5251390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5073080"/>
            <a:ext cx="7161374" cy="178491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335044" y="-1569660"/>
            <a:ext cx="8453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 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277961" y="265059"/>
            <a:ext cx="763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3191932" y="5703322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17DFE8BD-AF10-491B-9C6F-595F4E4955E0}"/>
              </a:ext>
            </a:extLst>
          </p:cNvPr>
          <p:cNvSpPr txBox="1"/>
          <p:nvPr/>
        </p:nvSpPr>
        <p:spPr>
          <a:xfrm>
            <a:off x="187386" y="5965539"/>
            <a:ext cx="3607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3. Transportation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2E7CA-4CAD-4984-A1CF-EC13B18E1019}"/>
              </a:ext>
            </a:extLst>
          </p:cNvPr>
          <p:cNvSpPr txBox="1"/>
          <p:nvPr/>
        </p:nvSpPr>
        <p:spPr>
          <a:xfrm>
            <a:off x="8702114" y="4137571"/>
            <a:ext cx="3302500" cy="208639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Tesla use AI for self-driving cars.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systems process data from cameras and sensors to decide how to drive safely.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Also, in delivery companies like DHL or FedEx,  AI helps find the best route to save time and fuel.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300" b="0" i="0" u="none" strike="noStrike" kern="1200" dirty="0">
              <a:ln>
                <a:noFill/>
              </a:ln>
              <a:solidFill>
                <a:schemeClr val="bg1"/>
              </a:solidFill>
              <a:latin typeface="Poppins SemiBold" panose="00000700000000000000" pitchFamily="2" charset="0"/>
              <a:ea typeface="Noto Sans CJK JP:palt" pitchFamily="34"/>
              <a:cs typeface="Poppins SemiBold" panose="00000700000000000000" pitchFamily="2" charset="0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CA356D32-50BF-4321-A7BC-15F30C28E6C1}"/>
              </a:ext>
            </a:extLst>
          </p:cNvPr>
          <p:cNvSpPr txBox="1"/>
          <p:nvPr/>
        </p:nvSpPr>
        <p:spPr>
          <a:xfrm>
            <a:off x="15593594" y="4857636"/>
            <a:ext cx="42342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2. Online shopping and recommendations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6CFCE82-3696-4D41-9590-F3E10447D50F}"/>
              </a:ext>
            </a:extLst>
          </p:cNvPr>
          <p:cNvSpPr txBox="1"/>
          <p:nvPr/>
        </p:nvSpPr>
        <p:spPr>
          <a:xfrm>
            <a:off x="-8294040" y="7037326"/>
            <a:ext cx="8074697" cy="10360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Amazon or Netflix use AI to recommend products or movies.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looks at what you bought or watched before and suggests new things you might like.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helps companies increase their sales and makes customers happier.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AFD04D3E-A454-484E-880C-557E07E6FF2F}"/>
              </a:ext>
            </a:extLst>
          </p:cNvPr>
          <p:cNvSpPr txBox="1"/>
          <p:nvPr/>
        </p:nvSpPr>
        <p:spPr>
          <a:xfrm>
            <a:off x="13767857" y="4651050"/>
            <a:ext cx="4727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Online shopping and recommendations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7A51495-179A-4510-9171-5A431BD82F80}"/>
              </a:ext>
            </a:extLst>
          </p:cNvPr>
          <p:cNvSpPr txBox="1"/>
          <p:nvPr/>
        </p:nvSpPr>
        <p:spPr>
          <a:xfrm>
            <a:off x="-7353373" y="6130483"/>
            <a:ext cx="5747857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27" name="GROUP">
            <a:extLst>
              <a:ext uri="{FF2B5EF4-FFF2-40B4-BE49-F238E27FC236}">
                <a16:creationId xmlns:a16="http://schemas.microsoft.com/office/drawing/2014/main" id="{67F1BBF8-A9D9-43FB-B60B-357FE4BE4645}"/>
              </a:ext>
            </a:extLst>
          </p:cNvPr>
          <p:cNvSpPr txBox="1"/>
          <p:nvPr/>
        </p:nvSpPr>
        <p:spPr>
          <a:xfrm>
            <a:off x="12750120" y="5557128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Healthcare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2CA6A33A-CBAE-4377-BCE9-47F1F7189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9943">
            <a:off x="-2424059" y="7205639"/>
            <a:ext cx="1214429" cy="121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C1AB330-4898-40B9-B6CD-7E626677F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13" y="1155110"/>
            <a:ext cx="1444950" cy="1444950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136821C8-C707-48FA-ABA6-20429EC7C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355" y="1958581"/>
            <a:ext cx="1471578" cy="147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05886EA-A8B4-42A2-BFF9-846425EA2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959" y="2319080"/>
            <a:ext cx="7390806" cy="4046466"/>
          </a:xfrm>
          <a:prstGeom prst="rect">
            <a:avLst/>
          </a:prstGeom>
        </p:spPr>
      </p:pic>
      <p:pic>
        <p:nvPicPr>
          <p:cNvPr id="25" name="Picture 8" descr="Icône FedEx aux formats SVG et PNG">
            <a:extLst>
              <a:ext uri="{FF2B5EF4-FFF2-40B4-BE49-F238E27FC236}">
                <a16:creationId xmlns:a16="http://schemas.microsoft.com/office/drawing/2014/main" id="{22908089-67BE-4673-AD63-2E58BFD6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20181">
            <a:off x="12295721" y="8081049"/>
            <a:ext cx="516523" cy="51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Icône Tesla aux formats SVG et PNG">
            <a:extLst>
              <a:ext uri="{FF2B5EF4-FFF2-40B4-BE49-F238E27FC236}">
                <a16:creationId xmlns:a16="http://schemas.microsoft.com/office/drawing/2014/main" id="{93512FA2-3DEC-4DD8-AABA-F35E0CF9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20742">
            <a:off x="14176161" y="7139947"/>
            <a:ext cx="491115" cy="49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cône DHL aux formats SVG et PNG">
            <a:extLst>
              <a:ext uri="{FF2B5EF4-FFF2-40B4-BE49-F238E27FC236}">
                <a16:creationId xmlns:a16="http://schemas.microsoft.com/office/drawing/2014/main" id="{11E9B93A-72BD-48E1-B95B-2B6C41B96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4212">
            <a:off x="15672109" y="4924753"/>
            <a:ext cx="415044" cy="41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1786F1D5-A614-4421-889B-1A18C925A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332576" y="2982482"/>
            <a:ext cx="6859424" cy="387551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2615012"/>
            <a:ext cx="7495244" cy="4242987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1335044" y="-1569660"/>
            <a:ext cx="8453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277961" y="265059"/>
            <a:ext cx="7636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3191932" y="5703322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9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3" name="GROUP">
            <a:extLst>
              <a:ext uri="{FF2B5EF4-FFF2-40B4-BE49-F238E27FC236}">
                <a16:creationId xmlns:a16="http://schemas.microsoft.com/office/drawing/2014/main" id="{17DFE8BD-AF10-491B-9C6F-595F4E4955E0}"/>
              </a:ext>
            </a:extLst>
          </p:cNvPr>
          <p:cNvSpPr txBox="1"/>
          <p:nvPr/>
        </p:nvSpPr>
        <p:spPr>
          <a:xfrm>
            <a:off x="7495244" y="5593855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Healthcare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2E7CA-4CAD-4984-A1CF-EC13B18E1019}"/>
              </a:ext>
            </a:extLst>
          </p:cNvPr>
          <p:cNvSpPr txBox="1"/>
          <p:nvPr/>
        </p:nvSpPr>
        <p:spPr>
          <a:xfrm>
            <a:off x="14720532" y="5279715"/>
            <a:ext cx="9189572" cy="119566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Many companies use AI chatbots to help customers.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For example, when you open a website and a chat box appears asking, “How can I help you?”, that’s usually an AI program.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answers simple questions, gives information, and helps customers 24 hours a day.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8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This saves time and money for companies.</a:t>
            </a:r>
          </a:p>
        </p:txBody>
      </p:sp>
      <p:sp>
        <p:nvSpPr>
          <p:cNvPr id="18" name="GROUP">
            <a:extLst>
              <a:ext uri="{FF2B5EF4-FFF2-40B4-BE49-F238E27FC236}">
                <a16:creationId xmlns:a16="http://schemas.microsoft.com/office/drawing/2014/main" id="{98AAF102-EC0F-44DA-B8EA-4EA89FF72D99}"/>
              </a:ext>
            </a:extLst>
          </p:cNvPr>
          <p:cNvSpPr txBox="1"/>
          <p:nvPr/>
        </p:nvSpPr>
        <p:spPr>
          <a:xfrm>
            <a:off x="-4015972" y="5593855"/>
            <a:ext cx="30166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1 – Customer service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32094CF-7CFE-473D-AD49-CB2E7DB64445}"/>
              </a:ext>
            </a:extLst>
          </p:cNvPr>
          <p:cNvSpPr txBox="1"/>
          <p:nvPr/>
        </p:nvSpPr>
        <p:spPr>
          <a:xfrm>
            <a:off x="378485" y="5074329"/>
            <a:ext cx="379895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23" name="GROUP">
            <a:extLst>
              <a:ext uri="{FF2B5EF4-FFF2-40B4-BE49-F238E27FC236}">
                <a16:creationId xmlns:a16="http://schemas.microsoft.com/office/drawing/2014/main" id="{77B33EAB-3A0C-4250-BC8E-2F8C8FD740A6}"/>
              </a:ext>
            </a:extLst>
          </p:cNvPr>
          <p:cNvSpPr txBox="1"/>
          <p:nvPr/>
        </p:nvSpPr>
        <p:spPr>
          <a:xfrm>
            <a:off x="-4372063" y="6596390"/>
            <a:ext cx="3607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oppins SemiBold" panose="00000700000000000000" pitchFamily="2" charset="0"/>
                <a:ea typeface="Roboto" panose="02000000000000000000" pitchFamily="2" charset="0"/>
                <a:cs typeface="Poppins SemiBold" panose="00000700000000000000" pitchFamily="2" charset="0"/>
              </a:rPr>
              <a:t>3. Transportation</a:t>
            </a:r>
            <a:endParaRPr lang="fr-FR" sz="11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08D54DB-AB91-4098-A81F-6E4F397EA261}"/>
              </a:ext>
            </a:extLst>
          </p:cNvPr>
          <p:cNvSpPr txBox="1"/>
          <p:nvPr/>
        </p:nvSpPr>
        <p:spPr>
          <a:xfrm>
            <a:off x="15331540" y="5683998"/>
            <a:ext cx="4727903" cy="208639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Companies like Tesla use AI for self-driving cars.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systems process data from cameras and sensors to decide how to drive safely.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900" b="0" i="0" u="none" strike="noStrike" kern="1200" dirty="0">
                <a:ln>
                  <a:noFill/>
                </a:ln>
                <a:solidFill>
                  <a:schemeClr val="bg1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Also, in delivery companies like DHL or FedEx,  AI helps find the best route to save time and fuel.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300" b="0" i="0" u="none" strike="noStrike" kern="1200" dirty="0">
              <a:ln>
                <a:noFill/>
              </a:ln>
              <a:solidFill>
                <a:schemeClr val="bg1"/>
              </a:solidFill>
              <a:latin typeface="Poppins SemiBold" panose="00000700000000000000" pitchFamily="2" charset="0"/>
              <a:ea typeface="Noto Sans CJK JP:palt" pitchFamily="34"/>
              <a:cs typeface="Poppins SemiBold" panose="00000700000000000000" pitchFamily="2" charset="0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537CC75-A216-466F-80B4-E105D4ACA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2209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4" name="GROUP">
            <a:extLst>
              <a:ext uri="{FF2B5EF4-FFF2-40B4-BE49-F238E27FC236}">
                <a16:creationId xmlns:a16="http://schemas.microsoft.com/office/drawing/2014/main" id="{7C7EC22C-6582-48C0-AB4A-6350A049CBBC}"/>
              </a:ext>
            </a:extLst>
          </p:cNvPr>
          <p:cNvSpPr txBox="1"/>
          <p:nvPr/>
        </p:nvSpPr>
        <p:spPr>
          <a:xfrm>
            <a:off x="12072433" y="4358339"/>
            <a:ext cx="3668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5" name="GROUP">
            <a:extLst>
              <a:ext uri="{FF2B5EF4-FFF2-40B4-BE49-F238E27FC236}">
                <a16:creationId xmlns:a16="http://schemas.microsoft.com/office/drawing/2014/main" id="{997B8E51-2482-4AA1-857C-0F145FF786AD}"/>
              </a:ext>
            </a:extLst>
          </p:cNvPr>
          <p:cNvSpPr txBox="1"/>
          <p:nvPr/>
        </p:nvSpPr>
        <p:spPr>
          <a:xfrm>
            <a:off x="1487444" y="-1417260"/>
            <a:ext cx="8453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 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993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9664131-11B2-4F1D-8ED0-ED331BFF8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9115">
            <a:off x="13470969" y="6573230"/>
            <a:ext cx="1003768" cy="1003768"/>
          </a:xfrm>
          <a:prstGeom prst="rect">
            <a:avLst/>
          </a:prstGeom>
        </p:spPr>
      </p:pic>
      <p:pic>
        <p:nvPicPr>
          <p:cNvPr id="26" name="Picture 2" descr="L'intelligence artificielle en classe | Réseau Canopé">
            <a:extLst>
              <a:ext uri="{FF2B5EF4-FFF2-40B4-BE49-F238E27FC236}">
                <a16:creationId xmlns:a16="http://schemas.microsoft.com/office/drawing/2014/main" id="{D72A6B82-AD72-4FB3-88FA-F82F9E0A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6119" y="7105870"/>
            <a:ext cx="716119" cy="71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60487B-A2A3-4752-AFEB-97C5310BD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0B29CD4-5EA0-418E-B242-BC9CCB34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DD44D88-31FB-499D-97D2-0E72372FE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5264209" y="-2"/>
            <a:ext cx="6927788" cy="6858001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-4"/>
            <a:ext cx="6095995" cy="685800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4261535" y="1804721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243150" y="4362620"/>
            <a:ext cx="3668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8414833" y="4362620"/>
            <a:ext cx="366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</a:t>
            </a:r>
            <a:r>
              <a:rPr lang="en-US" sz="2800" b="0" i="0" dirty="0">
                <a:solidFill>
                  <a:srgbClr val="FFFFFF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Advantages, Challenges, and the Future of Al in Business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43775-4813-4DFA-B252-237DF7327B1F}"/>
              </a:ext>
            </a:extLst>
          </p:cNvPr>
          <p:cNvSpPr txBox="1"/>
          <p:nvPr/>
        </p:nvSpPr>
        <p:spPr>
          <a:xfrm>
            <a:off x="-6528652" y="7463136"/>
            <a:ext cx="624099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4D8E9D95-F774-4456-8F82-924F6B1DC0CC}"/>
              </a:ext>
            </a:extLst>
          </p:cNvPr>
          <p:cNvSpPr txBox="1"/>
          <p:nvPr/>
        </p:nvSpPr>
        <p:spPr>
          <a:xfrm>
            <a:off x="13768442" y="7259790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Healthcare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GROUP">
            <a:extLst>
              <a:ext uri="{FF2B5EF4-FFF2-40B4-BE49-F238E27FC236}">
                <a16:creationId xmlns:a16="http://schemas.microsoft.com/office/drawing/2014/main" id="{8109E671-D0A7-4ECA-88F3-59856D96D457}"/>
              </a:ext>
            </a:extLst>
          </p:cNvPr>
          <p:cNvSpPr txBox="1"/>
          <p:nvPr/>
        </p:nvSpPr>
        <p:spPr>
          <a:xfrm>
            <a:off x="-5044159" y="6397958"/>
            <a:ext cx="4727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1.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Adventages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CB6733C-9176-4F8F-8D6A-591F89F7A3BE}"/>
              </a:ext>
            </a:extLst>
          </p:cNvPr>
          <p:cNvSpPr txBox="1"/>
          <p:nvPr/>
        </p:nvSpPr>
        <p:spPr>
          <a:xfrm>
            <a:off x="14947343" y="3620603"/>
            <a:ext cx="4178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time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Better decisions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money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Improves customer service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614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DE580650-C3AB-46E7-961A-D5C4713C6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77823" y="7895765"/>
            <a:ext cx="874004" cy="87400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6163E6D-44BA-432E-A1AD-EA85FE592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5150">
            <a:off x="-1455355" y="7575098"/>
            <a:ext cx="759017" cy="7590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5E46E31-0DD4-4172-B897-1BDA9180F2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9115">
            <a:off x="5860591" y="778392"/>
            <a:ext cx="4898141" cy="4898141"/>
          </a:xfrm>
          <a:prstGeom prst="rect">
            <a:avLst/>
          </a:prstGeom>
        </p:spPr>
      </p:pic>
      <p:pic>
        <p:nvPicPr>
          <p:cNvPr id="1026" name="Picture 2" descr="L'intelligence artificielle en classe | Réseau Canopé">
            <a:extLst>
              <a:ext uri="{FF2B5EF4-FFF2-40B4-BE49-F238E27FC236}">
                <a16:creationId xmlns:a16="http://schemas.microsoft.com/office/drawing/2014/main" id="{83E0F5B5-D6B2-427B-886D-5173C4968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66" y="2192743"/>
            <a:ext cx="42957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60487B-A2A3-4752-AFEB-97C5310BDB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0B29CD4-5EA0-418E-B242-BC9CCB34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DD44D88-31FB-499D-97D2-0E72372FED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4364734" y="2194560"/>
            <a:ext cx="7827261" cy="4663439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1" y="4864608"/>
            <a:ext cx="4840224" cy="1993389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3946231" y="-1873125"/>
            <a:ext cx="366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-3713145" y="4366061"/>
            <a:ext cx="3668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751403" y="78794"/>
            <a:ext cx="8032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3 -Advantages, Challenges, and the Future of Al in Business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43775-4813-4DFA-B252-237DF7327B1F}"/>
              </a:ext>
            </a:extLst>
          </p:cNvPr>
          <p:cNvSpPr txBox="1"/>
          <p:nvPr/>
        </p:nvSpPr>
        <p:spPr>
          <a:xfrm>
            <a:off x="-7762236" y="5748660"/>
            <a:ext cx="624099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4D8E9D95-F774-4456-8F82-924F6B1DC0CC}"/>
              </a:ext>
            </a:extLst>
          </p:cNvPr>
          <p:cNvSpPr txBox="1"/>
          <p:nvPr/>
        </p:nvSpPr>
        <p:spPr>
          <a:xfrm>
            <a:off x="-775635" y="6085296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1. </a:t>
            </a:r>
            <a:r>
              <a:rPr lang="en-US" sz="2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Adventages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050CF58-C0E9-4A2E-9ADD-C96DB47A2AA4}"/>
              </a:ext>
            </a:extLst>
          </p:cNvPr>
          <p:cNvSpPr txBox="1"/>
          <p:nvPr/>
        </p:nvSpPr>
        <p:spPr>
          <a:xfrm>
            <a:off x="8278364" y="4271973"/>
            <a:ext cx="3888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time </a:t>
            </a: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Better decisions </a:t>
            </a: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money </a:t>
            </a: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Improves customer service</a:t>
            </a:r>
            <a:endParaRPr lang="fr-FR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GROUP">
            <a:extLst>
              <a:ext uri="{FF2B5EF4-FFF2-40B4-BE49-F238E27FC236}">
                <a16:creationId xmlns:a16="http://schemas.microsoft.com/office/drawing/2014/main" id="{ABBC9F72-A2AD-4B97-8169-078174144FCB}"/>
              </a:ext>
            </a:extLst>
          </p:cNvPr>
          <p:cNvSpPr txBox="1"/>
          <p:nvPr/>
        </p:nvSpPr>
        <p:spPr>
          <a:xfrm>
            <a:off x="12917365" y="6085296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fr-FR" sz="900" b="0" i="0" dirty="0">
                <a:solidFill>
                  <a:srgbClr val="F5F5F5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Challenges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GROUP">
            <a:extLst>
              <a:ext uri="{FF2B5EF4-FFF2-40B4-BE49-F238E27FC236}">
                <a16:creationId xmlns:a16="http://schemas.microsoft.com/office/drawing/2014/main" id="{874E37B1-D604-4871-9A9B-8CAE8B37A69F}"/>
              </a:ext>
            </a:extLst>
          </p:cNvPr>
          <p:cNvSpPr txBox="1"/>
          <p:nvPr/>
        </p:nvSpPr>
        <p:spPr>
          <a:xfrm>
            <a:off x="-3587578" y="6258373"/>
            <a:ext cx="3180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Costs money</a:t>
            </a:r>
          </a:p>
          <a:p>
            <a:pPr algn="ctr"/>
            <a:endParaRPr lang="en-US" sz="800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Needs data </a:t>
            </a:r>
          </a:p>
          <a:p>
            <a:pPr algn="ctr"/>
            <a:endParaRPr lang="en-US" sz="800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Can replace jobs</a:t>
            </a: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Privacy risks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703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9EEDDDF-A164-46CB-A427-2791CF7FF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397" y="8150377"/>
            <a:ext cx="728320" cy="416498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D58ABED1-C9D4-4284-94D2-B21412350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13571" y="7105870"/>
            <a:ext cx="1308308" cy="87220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9189F-1842-4929-AD9A-8035B56B2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5150">
            <a:off x="2136021" y="1508905"/>
            <a:ext cx="3263824" cy="326382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4F6F24A-D01A-4734-8935-381FFAA0E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67123" y="1546044"/>
            <a:ext cx="4866125" cy="486612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9664131-11B2-4F1D-8ED0-ED331BFF85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9115">
            <a:off x="13470969" y="6573230"/>
            <a:ext cx="1003768" cy="1003768"/>
          </a:xfrm>
          <a:prstGeom prst="rect">
            <a:avLst/>
          </a:prstGeom>
        </p:spPr>
      </p:pic>
      <p:pic>
        <p:nvPicPr>
          <p:cNvPr id="26" name="Picture 2" descr="L'intelligence artificielle en classe | Réseau Canopé">
            <a:extLst>
              <a:ext uri="{FF2B5EF4-FFF2-40B4-BE49-F238E27FC236}">
                <a16:creationId xmlns:a16="http://schemas.microsoft.com/office/drawing/2014/main" id="{D72A6B82-AD72-4FB3-88FA-F82F9E0A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6119" y="7105870"/>
            <a:ext cx="716119" cy="71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60487B-A2A3-4752-AFEB-97C5310BDB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0B29CD4-5EA0-418E-B242-BC9CCB34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DD44D88-31FB-499D-97D2-0E72372FED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6501051" y="4840224"/>
            <a:ext cx="5690946" cy="2017775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1738716"/>
            <a:ext cx="6412607" cy="51192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8851338" y="5982460"/>
            <a:ext cx="3668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fr-FR" sz="2800" b="0" i="0" dirty="0">
                <a:solidFill>
                  <a:srgbClr val="F5F5F5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Challenges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-883157" y="4372591"/>
            <a:ext cx="5395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Costs money</a:t>
            </a:r>
          </a:p>
          <a:p>
            <a:pPr algn="ctr"/>
            <a:endParaRPr lang="en-US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Needs data </a:t>
            </a:r>
          </a:p>
          <a:p>
            <a:pPr algn="ctr"/>
            <a:endParaRPr lang="en-US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Can replace jobs</a:t>
            </a:r>
          </a:p>
          <a:p>
            <a:pPr algn="ctr"/>
            <a:r>
              <a:rPr lang="en-US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  <a:p>
            <a:pPr algn="ctr"/>
            <a:r>
              <a:rPr lang="en-US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Privacy risks</a:t>
            </a:r>
            <a:endParaRPr lang="fr-FR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43775-4813-4DFA-B252-237DF7327B1F}"/>
              </a:ext>
            </a:extLst>
          </p:cNvPr>
          <p:cNvSpPr txBox="1"/>
          <p:nvPr/>
        </p:nvSpPr>
        <p:spPr>
          <a:xfrm>
            <a:off x="-6528652" y="7463136"/>
            <a:ext cx="624099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4D8E9D95-F774-4456-8F82-924F6B1DC0CC}"/>
              </a:ext>
            </a:extLst>
          </p:cNvPr>
          <p:cNvSpPr txBox="1"/>
          <p:nvPr/>
        </p:nvSpPr>
        <p:spPr>
          <a:xfrm>
            <a:off x="13768442" y="7259790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Healthcare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GROUP">
            <a:extLst>
              <a:ext uri="{FF2B5EF4-FFF2-40B4-BE49-F238E27FC236}">
                <a16:creationId xmlns:a16="http://schemas.microsoft.com/office/drawing/2014/main" id="{8109E671-D0A7-4ECA-88F3-59856D96D457}"/>
              </a:ext>
            </a:extLst>
          </p:cNvPr>
          <p:cNvSpPr txBox="1"/>
          <p:nvPr/>
        </p:nvSpPr>
        <p:spPr>
          <a:xfrm>
            <a:off x="-5044159" y="6397958"/>
            <a:ext cx="4727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1.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Adventages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CB6733C-9176-4F8F-8D6A-591F89F7A3BE}"/>
              </a:ext>
            </a:extLst>
          </p:cNvPr>
          <p:cNvSpPr txBox="1"/>
          <p:nvPr/>
        </p:nvSpPr>
        <p:spPr>
          <a:xfrm>
            <a:off x="14947343" y="3620603"/>
            <a:ext cx="4178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time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Better decisions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money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Improves customer service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8" name="GROUP">
            <a:extLst>
              <a:ext uri="{FF2B5EF4-FFF2-40B4-BE49-F238E27FC236}">
                <a16:creationId xmlns:a16="http://schemas.microsoft.com/office/drawing/2014/main" id="{D89A7603-6305-4876-91A0-56C071B01FF2}"/>
              </a:ext>
            </a:extLst>
          </p:cNvPr>
          <p:cNvSpPr txBox="1"/>
          <p:nvPr/>
        </p:nvSpPr>
        <p:spPr>
          <a:xfrm>
            <a:off x="1751403" y="78794"/>
            <a:ext cx="8032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3 -Advantages, Challenges, and the Future of Al in Business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" name="GROUP">
            <a:extLst>
              <a:ext uri="{FF2B5EF4-FFF2-40B4-BE49-F238E27FC236}">
                <a16:creationId xmlns:a16="http://schemas.microsoft.com/office/drawing/2014/main" id="{1C8DF285-7DC2-4E4F-8A4E-16B4CB113590}"/>
              </a:ext>
            </a:extLst>
          </p:cNvPr>
          <p:cNvSpPr txBox="1"/>
          <p:nvPr/>
        </p:nvSpPr>
        <p:spPr>
          <a:xfrm>
            <a:off x="-5772109" y="6387432"/>
            <a:ext cx="4727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3. Future 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F767381-D814-47F7-9EAA-A7D672596D57}"/>
              </a:ext>
            </a:extLst>
          </p:cNvPr>
          <p:cNvSpPr txBox="1"/>
          <p:nvPr/>
        </p:nvSpPr>
        <p:spPr>
          <a:xfrm>
            <a:off x="14904119" y="6627396"/>
            <a:ext cx="4178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Automation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personal services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Humans + IA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Faster innovation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322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C7A62FB8-7E56-412F-BE77-1C3245228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984" y="7728947"/>
            <a:ext cx="1231567" cy="123156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B7C1E25-D0F3-4C07-9811-C6AC90378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36" y="4003147"/>
            <a:ext cx="6296025" cy="360045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7BF37C0-078B-47C4-9FBD-7E5379C90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85965" y="1047265"/>
            <a:ext cx="5674794" cy="378319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DE580650-C3AB-46E7-961A-D5C4713C6B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77823" y="7895765"/>
            <a:ext cx="874004" cy="87400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6163E6D-44BA-432E-A1AD-EA85FE592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65150">
            <a:off x="-1455355" y="7575098"/>
            <a:ext cx="759017" cy="75901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60487B-A2A3-4752-AFEB-97C5310BDB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0B29CD4-5EA0-418E-B242-BC9CCB34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DD44D88-31FB-499D-97D2-0E72372FED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4364734" y="2194560"/>
            <a:ext cx="7827261" cy="4663439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1" y="5266944"/>
            <a:ext cx="4840224" cy="1591053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GROUP">
            <a:extLst>
              <a:ext uri="{FF2B5EF4-FFF2-40B4-BE49-F238E27FC236}">
                <a16:creationId xmlns:a16="http://schemas.microsoft.com/office/drawing/2014/main" id="{BDDF6A1E-7604-4E45-B825-9B3A9B5532A2}"/>
              </a:ext>
            </a:extLst>
          </p:cNvPr>
          <p:cNvSpPr txBox="1"/>
          <p:nvPr/>
        </p:nvSpPr>
        <p:spPr>
          <a:xfrm>
            <a:off x="3946231" y="-1873125"/>
            <a:ext cx="366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1 -What is Artificial Intelligence and Its Role in Business Today</a:t>
            </a:r>
            <a:endParaRPr lang="fr-FR" sz="9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4" name="GROUP">
            <a:extLst>
              <a:ext uri="{FF2B5EF4-FFF2-40B4-BE49-F238E27FC236}">
                <a16:creationId xmlns:a16="http://schemas.microsoft.com/office/drawing/2014/main" id="{709AFCA8-B992-4634-95BC-F7664BDB2AF8}"/>
              </a:ext>
            </a:extLst>
          </p:cNvPr>
          <p:cNvSpPr txBox="1"/>
          <p:nvPr/>
        </p:nvSpPr>
        <p:spPr>
          <a:xfrm>
            <a:off x="-3713145" y="4366061"/>
            <a:ext cx="36689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 </a:t>
            </a:r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-Practical Examples of Al in Companies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GROUP">
            <a:extLst>
              <a:ext uri="{FF2B5EF4-FFF2-40B4-BE49-F238E27FC236}">
                <a16:creationId xmlns:a16="http://schemas.microsoft.com/office/drawing/2014/main" id="{C0CAF169-A28D-413A-BC46-B65ADFA669E6}"/>
              </a:ext>
            </a:extLst>
          </p:cNvPr>
          <p:cNvSpPr txBox="1"/>
          <p:nvPr/>
        </p:nvSpPr>
        <p:spPr>
          <a:xfrm>
            <a:off x="1751403" y="78794"/>
            <a:ext cx="8032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3 -Advantages, Challenges, and the Future of Al in Business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9" name="GROUP">
            <a:extLst>
              <a:ext uri="{FF2B5EF4-FFF2-40B4-BE49-F238E27FC236}">
                <a16:creationId xmlns:a16="http://schemas.microsoft.com/office/drawing/2014/main" id="{94002B60-E442-4863-9986-3A90FAB54B20}"/>
              </a:ext>
            </a:extLst>
          </p:cNvPr>
          <p:cNvSpPr txBox="1"/>
          <p:nvPr/>
        </p:nvSpPr>
        <p:spPr>
          <a:xfrm>
            <a:off x="7161374" y="7521400"/>
            <a:ext cx="5395645" cy="1812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AI helps businesses automate tasks, make smarter decisions, and improve efficiency.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43775-4813-4DFA-B252-237DF7327B1F}"/>
              </a:ext>
            </a:extLst>
          </p:cNvPr>
          <p:cNvSpPr txBox="1"/>
          <p:nvPr/>
        </p:nvSpPr>
        <p:spPr>
          <a:xfrm>
            <a:off x="-7762236" y="5748660"/>
            <a:ext cx="624099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4D8E9D95-F774-4456-8F82-924F6B1DC0CC}"/>
              </a:ext>
            </a:extLst>
          </p:cNvPr>
          <p:cNvSpPr txBox="1"/>
          <p:nvPr/>
        </p:nvSpPr>
        <p:spPr>
          <a:xfrm>
            <a:off x="-1112771" y="5996763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3. Future </a:t>
            </a:r>
            <a:endParaRPr lang="fr-FR" sz="2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050CF58-C0E9-4A2E-9ADD-C96DB47A2AA4}"/>
              </a:ext>
            </a:extLst>
          </p:cNvPr>
          <p:cNvSpPr txBox="1"/>
          <p:nvPr/>
        </p:nvSpPr>
        <p:spPr>
          <a:xfrm>
            <a:off x="8278364" y="4447667"/>
            <a:ext cx="3888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Automation</a:t>
            </a:r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personal services</a:t>
            </a:r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Humans + IA</a:t>
            </a:r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Faster innovation</a:t>
            </a:r>
            <a:endParaRPr lang="fr-FR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GROUP">
            <a:extLst>
              <a:ext uri="{FF2B5EF4-FFF2-40B4-BE49-F238E27FC236}">
                <a16:creationId xmlns:a16="http://schemas.microsoft.com/office/drawing/2014/main" id="{ABBC9F72-A2AD-4B97-8169-078174144FCB}"/>
              </a:ext>
            </a:extLst>
          </p:cNvPr>
          <p:cNvSpPr txBox="1"/>
          <p:nvPr/>
        </p:nvSpPr>
        <p:spPr>
          <a:xfrm>
            <a:off x="12917365" y="6085296"/>
            <a:ext cx="3668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fr-FR" sz="900" b="0" i="0" dirty="0">
                <a:solidFill>
                  <a:srgbClr val="F5F5F5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Challenges</a:t>
            </a:r>
            <a:endParaRPr lang="fr-FR" sz="9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6" name="GROUP">
            <a:extLst>
              <a:ext uri="{FF2B5EF4-FFF2-40B4-BE49-F238E27FC236}">
                <a16:creationId xmlns:a16="http://schemas.microsoft.com/office/drawing/2014/main" id="{874E37B1-D604-4871-9A9B-8CAE8B37A69F}"/>
              </a:ext>
            </a:extLst>
          </p:cNvPr>
          <p:cNvSpPr txBox="1"/>
          <p:nvPr/>
        </p:nvSpPr>
        <p:spPr>
          <a:xfrm>
            <a:off x="-3587578" y="6258373"/>
            <a:ext cx="3180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Costs money</a:t>
            </a:r>
          </a:p>
          <a:p>
            <a:pPr algn="ctr"/>
            <a:endParaRPr lang="en-US" sz="800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Needs data </a:t>
            </a:r>
          </a:p>
          <a:p>
            <a:pPr algn="ctr"/>
            <a:endParaRPr lang="en-US" sz="800" b="0" i="0" dirty="0"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Can replace jobs</a:t>
            </a: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Privacy risks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FC29B556-5FF6-41EC-AF74-8112CC2C31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772" y="6478992"/>
            <a:ext cx="915110" cy="874002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383F1551-7E4A-4DAE-BA86-0D707568C2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700" y="4706294"/>
            <a:ext cx="923330" cy="92333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255CCEB3-D943-4A53-A10C-170DB2B431A7}"/>
              </a:ext>
            </a:extLst>
          </p:cNvPr>
          <p:cNvSpPr txBox="1"/>
          <p:nvPr/>
        </p:nvSpPr>
        <p:spPr>
          <a:xfrm>
            <a:off x="13379030" y="4706294"/>
            <a:ext cx="38884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Badis Boudjaoui</a:t>
            </a:r>
          </a:p>
          <a:p>
            <a:r>
              <a:rPr lang="fr-FR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Axcel</a:t>
            </a:r>
            <a:r>
              <a:rPr lang="fr-FR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Hamadouche</a:t>
            </a:r>
            <a:endParaRPr lang="fr-FR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Walid </a:t>
            </a:r>
            <a:r>
              <a:rPr lang="en-US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Naceri</a:t>
            </a:r>
            <a:endParaRPr lang="en-US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301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C62B275-8790-43E8-A3AC-5C235C9A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6857999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7EC815B-B558-4D26-90CD-2C613417D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511" y="10695"/>
            <a:ext cx="5762926" cy="5762926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9EEDDDF-A164-46CB-A427-2791CF7FF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397" y="8150377"/>
            <a:ext cx="728320" cy="416498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D58ABED1-C9D4-4284-94D2-B214123503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813571" y="7105870"/>
            <a:ext cx="1308308" cy="87220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9664131-11B2-4F1D-8ED0-ED331BFF85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99115">
            <a:off x="13470969" y="6573230"/>
            <a:ext cx="1003768" cy="1003768"/>
          </a:xfrm>
          <a:prstGeom prst="rect">
            <a:avLst/>
          </a:prstGeom>
        </p:spPr>
      </p:pic>
      <p:pic>
        <p:nvPicPr>
          <p:cNvPr id="26" name="Picture 2" descr="L'intelligence artificielle en classe | Réseau Canopé">
            <a:extLst>
              <a:ext uri="{FF2B5EF4-FFF2-40B4-BE49-F238E27FC236}">
                <a16:creationId xmlns:a16="http://schemas.microsoft.com/office/drawing/2014/main" id="{D72A6B82-AD72-4FB3-88FA-F82F9E0A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6119" y="7105870"/>
            <a:ext cx="716119" cy="71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E60487B-A2A3-4752-AFEB-97C5310BDB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10521">
            <a:off x="-3355463" y="9120443"/>
            <a:ext cx="426931" cy="426931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90B29CD4-5EA0-418E-B242-BC9CCB34E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2391">
            <a:off x="807632" y="9017118"/>
            <a:ext cx="687368" cy="6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DD44D88-31FB-499D-97D2-0E72372FED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717" y="7895765"/>
            <a:ext cx="1547997" cy="847528"/>
          </a:xfrm>
          <a:prstGeom prst="rect">
            <a:avLst/>
          </a:prstGeom>
        </p:spPr>
      </p:pic>
      <p:pic>
        <p:nvPicPr>
          <p:cNvPr id="20" name="Picture 2" descr="Icône de soutien aux services pour hommes aux formats SVG et PNG">
            <a:extLst>
              <a:ext uri="{FF2B5EF4-FFF2-40B4-BE49-F238E27FC236}">
                <a16:creationId xmlns:a16="http://schemas.microsoft.com/office/drawing/2014/main" id="{B4343DE2-832B-4D99-BA85-E2E462A90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658" y="7781287"/>
            <a:ext cx="1154678" cy="115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cône de conséquence aux formats SVG et PNG">
            <a:extLst>
              <a:ext uri="{FF2B5EF4-FFF2-40B4-BE49-F238E27FC236}">
                <a16:creationId xmlns:a16="http://schemas.microsoft.com/office/drawing/2014/main" id="{33DAB246-6AC7-4650-A7A9-6E3D0841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4164" y="4706294"/>
            <a:ext cx="2455721" cy="24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B3A71B93-2209-4737-91BF-1F295D63965F}"/>
              </a:ext>
            </a:extLst>
          </p:cNvPr>
          <p:cNvSpPr/>
          <p:nvPr/>
        </p:nvSpPr>
        <p:spPr>
          <a:xfrm flipH="1">
            <a:off x="-45219" y="1184658"/>
            <a:ext cx="12237216" cy="5673341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riangle rectangle 10">
            <a:extLst>
              <a:ext uri="{FF2B5EF4-FFF2-40B4-BE49-F238E27FC236}">
                <a16:creationId xmlns:a16="http://schemas.microsoft.com/office/drawing/2014/main" id="{D677C499-62B4-42FE-ABD4-022D6CF32BDA}"/>
              </a:ext>
            </a:extLst>
          </p:cNvPr>
          <p:cNvSpPr/>
          <p:nvPr/>
        </p:nvSpPr>
        <p:spPr>
          <a:xfrm>
            <a:off x="0" y="1738716"/>
            <a:ext cx="6412607" cy="5119281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1E1F09-C28F-439C-970A-A575AB9FE9DA}"/>
              </a:ext>
            </a:extLst>
          </p:cNvPr>
          <p:cNvSpPr txBox="1"/>
          <p:nvPr/>
        </p:nvSpPr>
        <p:spPr>
          <a:xfrm>
            <a:off x="2085321" y="-1569660"/>
            <a:ext cx="7364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0" i="0" dirty="0" err="1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Artificial</a:t>
            </a:r>
            <a:r>
              <a:rPr lang="fr-FR" sz="4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 Intelligence in Business</a:t>
            </a:r>
            <a:endParaRPr lang="fr-FR" sz="48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9943775-4813-4DFA-B252-237DF7327B1F}"/>
              </a:ext>
            </a:extLst>
          </p:cNvPr>
          <p:cNvSpPr txBox="1"/>
          <p:nvPr/>
        </p:nvSpPr>
        <p:spPr>
          <a:xfrm>
            <a:off x="-6528652" y="7463136"/>
            <a:ext cx="6240991" cy="1460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</a:t>
            </a: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n hospitals, AI helps doctors analyze medical images like X-rays or scans.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It can find diseases earlier and faster than humans sometimes.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dirty="0">
                <a:ln>
                  <a:noFill/>
                </a:ln>
                <a:solidFill>
                  <a:srgbClr val="000000"/>
                </a:solidFill>
                <a:latin typeface="Poppins SemiBold" panose="00000700000000000000" pitchFamily="2" charset="0"/>
                <a:ea typeface="Noto Sans CJK JP:palt" pitchFamily="34"/>
                <a:cs typeface="Poppins SemiBold" panose="00000700000000000000" pitchFamily="2" charset="0"/>
              </a:rPr>
              <a:t>AI is also used to create personalized treatment plans for patients.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000" b="0" i="0" u="none" strike="noStrike" kern="1200" dirty="0">
              <a:ln>
                <a:noFill/>
              </a:ln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GROUP">
            <a:extLst>
              <a:ext uri="{FF2B5EF4-FFF2-40B4-BE49-F238E27FC236}">
                <a16:creationId xmlns:a16="http://schemas.microsoft.com/office/drawing/2014/main" id="{4D8E9D95-F774-4456-8F82-924F6B1DC0CC}"/>
              </a:ext>
            </a:extLst>
          </p:cNvPr>
          <p:cNvSpPr txBox="1"/>
          <p:nvPr/>
        </p:nvSpPr>
        <p:spPr>
          <a:xfrm>
            <a:off x="13768442" y="7259790"/>
            <a:ext cx="4727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Healthcare</a:t>
            </a:r>
            <a:endParaRPr lang="fr-FR" sz="2800" dirty="0">
              <a:solidFill>
                <a:schemeClr val="bg1"/>
              </a:solidFill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4" name="GROUP">
            <a:extLst>
              <a:ext uri="{FF2B5EF4-FFF2-40B4-BE49-F238E27FC236}">
                <a16:creationId xmlns:a16="http://schemas.microsoft.com/office/drawing/2014/main" id="{8109E671-D0A7-4ECA-88F3-59856D96D457}"/>
              </a:ext>
            </a:extLst>
          </p:cNvPr>
          <p:cNvSpPr txBox="1"/>
          <p:nvPr/>
        </p:nvSpPr>
        <p:spPr>
          <a:xfrm>
            <a:off x="-5044159" y="6397958"/>
            <a:ext cx="4727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1. </a:t>
            </a:r>
            <a:r>
              <a:rPr lang="en-US" sz="8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Adventages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CB6733C-9176-4F8F-8D6A-591F89F7A3BE}"/>
              </a:ext>
            </a:extLst>
          </p:cNvPr>
          <p:cNvSpPr txBox="1"/>
          <p:nvPr/>
        </p:nvSpPr>
        <p:spPr>
          <a:xfrm>
            <a:off x="14947343" y="3620603"/>
            <a:ext cx="41786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time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Better decisions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Saves money </a:t>
            </a: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b="0" i="0" dirty="0">
                <a:solidFill>
                  <a:schemeClr val="bg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Improves customer service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8" name="GROUP">
            <a:extLst>
              <a:ext uri="{FF2B5EF4-FFF2-40B4-BE49-F238E27FC236}">
                <a16:creationId xmlns:a16="http://schemas.microsoft.com/office/drawing/2014/main" id="{D89A7603-6305-4876-91A0-56C071B01FF2}"/>
              </a:ext>
            </a:extLst>
          </p:cNvPr>
          <p:cNvSpPr txBox="1"/>
          <p:nvPr/>
        </p:nvSpPr>
        <p:spPr>
          <a:xfrm>
            <a:off x="515105" y="-1400104"/>
            <a:ext cx="130844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0" i="0" dirty="0">
                <a:effectLst/>
                <a:latin typeface="Poppins SemiBold" panose="00000700000000000000" pitchFamily="2" charset="0"/>
                <a:cs typeface="Poppins SemiBold" panose="00000700000000000000" pitchFamily="2" charset="0"/>
              </a:rPr>
              <a:t>3 -Advantages, Challenges, and the Future of Al in Business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" name="GROUP">
            <a:extLst>
              <a:ext uri="{FF2B5EF4-FFF2-40B4-BE49-F238E27FC236}">
                <a16:creationId xmlns:a16="http://schemas.microsoft.com/office/drawing/2014/main" id="{1C8DF285-7DC2-4E4F-8A4E-16B4CB113590}"/>
              </a:ext>
            </a:extLst>
          </p:cNvPr>
          <p:cNvSpPr txBox="1"/>
          <p:nvPr/>
        </p:nvSpPr>
        <p:spPr>
          <a:xfrm>
            <a:off x="-5772109" y="6387432"/>
            <a:ext cx="4727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3. Future </a:t>
            </a:r>
            <a:endParaRPr lang="fr-FR" sz="800" dirty="0">
              <a:latin typeface="Poppins SemiBold" panose="00000700000000000000" pitchFamily="2" charset="0"/>
              <a:ea typeface="Roboto" panose="020000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F767381-D814-47F7-9EAA-A7D672596D57}"/>
              </a:ext>
            </a:extLst>
          </p:cNvPr>
          <p:cNvSpPr txBox="1"/>
          <p:nvPr/>
        </p:nvSpPr>
        <p:spPr>
          <a:xfrm>
            <a:off x="10230174" y="7162015"/>
            <a:ext cx="4178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Automation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More personal services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Humans + IA</a:t>
            </a:r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endParaRPr lang="en-US" sz="800" b="0" i="0" dirty="0">
              <a:solidFill>
                <a:schemeClr val="bg1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algn="ctr"/>
            <a:r>
              <a:rPr lang="en-US" sz="800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Faster innovation</a:t>
            </a:r>
            <a:endParaRPr lang="fr-FR" sz="800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DEDB53-73B7-4B56-99BA-D459D5FC65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20" y="4212978"/>
            <a:ext cx="2400538" cy="2292702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29454A8-F1FF-4809-9A6F-C37A8562EBEF}"/>
              </a:ext>
            </a:extLst>
          </p:cNvPr>
          <p:cNvSpPr txBox="1"/>
          <p:nvPr/>
        </p:nvSpPr>
        <p:spPr>
          <a:xfrm>
            <a:off x="8912166" y="4682432"/>
            <a:ext cx="38884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Badis Boudjaoui</a:t>
            </a:r>
          </a:p>
          <a:p>
            <a:r>
              <a:rPr lang="fr-FR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Axcel</a:t>
            </a:r>
            <a:r>
              <a:rPr lang="fr-FR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Hamadouche</a:t>
            </a:r>
            <a:endParaRPr lang="fr-FR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Walid </a:t>
            </a:r>
            <a:r>
              <a:rPr lang="en-US" dirty="0" err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Naceri</a:t>
            </a:r>
            <a:endParaRPr lang="en-US" dirty="0">
              <a:solidFill>
                <a:schemeClr val="bg1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8FCC52-48B5-4913-8B10-F7E46B9C969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902" y="4682432"/>
            <a:ext cx="923330" cy="923330"/>
          </a:xfrm>
          <a:prstGeom prst="rect">
            <a:avLst/>
          </a:prstGeom>
        </p:spPr>
      </p:pic>
      <p:sp>
        <p:nvSpPr>
          <p:cNvPr id="9" name="AutoShape 2" descr="Image générée">
            <a:extLst>
              <a:ext uri="{FF2B5EF4-FFF2-40B4-BE49-F238E27FC236}">
                <a16:creationId xmlns:a16="http://schemas.microsoft.com/office/drawing/2014/main" id="{55BE01AF-11D4-425B-BC3A-43BED7B576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869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1781</Words>
  <Application>Microsoft Office PowerPoint</Application>
  <PresentationFormat>Grand écran</PresentationFormat>
  <Paragraphs>264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Liberation Sans</vt:lpstr>
      <vt:lpstr>Poppins Medium</vt:lpstr>
      <vt:lpstr>Poppins SemiBold</vt:lpstr>
      <vt:lpstr>Rockwell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Badis Boudjaoui</dc:creator>
  <cp:lastModifiedBy>Badis Boudjaoui</cp:lastModifiedBy>
  <cp:revision>31</cp:revision>
  <dcterms:created xsi:type="dcterms:W3CDTF">2025-11-14T14:49:00Z</dcterms:created>
  <dcterms:modified xsi:type="dcterms:W3CDTF">2025-11-15T16:29:21Z</dcterms:modified>
</cp:coreProperties>
</file>